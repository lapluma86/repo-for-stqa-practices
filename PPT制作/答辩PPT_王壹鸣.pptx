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2" r:id="rId6"/>
    <p:sldId id="258" r:id="rId7"/>
    <p:sldId id="283" r:id="rId8"/>
    <p:sldId id="260" r:id="rId9"/>
    <p:sldId id="284" r:id="rId10"/>
    <p:sldId id="262" r:id="rId11"/>
    <p:sldId id="263" r:id="rId12"/>
    <p:sldId id="264" r:id="rId13"/>
    <p:sldId id="265" r:id="rId14"/>
    <p:sldId id="266" r:id="rId15"/>
    <p:sldId id="285" r:id="rId16"/>
    <p:sldId id="267" r:id="rId17"/>
    <p:sldId id="268" r:id="rId18"/>
    <p:sldId id="269" r:id="rId19"/>
    <p:sldId id="287" r:id="rId20"/>
    <p:sldId id="270" r:id="rId21"/>
    <p:sldId id="271" r:id="rId22"/>
    <p:sldId id="286" r:id="rId23"/>
    <p:sldId id="273" r:id="rId24"/>
    <p:sldId id="274" r:id="rId25"/>
    <p:sldId id="27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FDC"/>
    <a:srgbClr val="FBEEDE"/>
    <a:srgbClr val="D38D8C"/>
    <a:srgbClr val="FEFBF9"/>
    <a:srgbClr val="ECE8DE"/>
    <a:srgbClr val="FCE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345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4165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4724400"/>
            <a:ext cx="345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133600 h 2336800"/>
              <a:gd name="connisteX5" fmla="*/ 3251200 w 3454400"/>
              <a:gd name="connsiteY5" fmla="*/ 2336800 h 2336800"/>
              <a:gd name="connisteX6" fmla="*/ 203200 w 3454400"/>
              <a:gd name="connsiteY6" fmla="*/ 2336800 h 2336800"/>
              <a:gd name="connisteX7" fmla="*/ 0 w 3454400"/>
              <a:gd name="connsiteY7" fmla="*/ 2133600 h 2336800"/>
              <a:gd name="connisteX8" fmla="*/ 0 w 34544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4165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4724400"/>
            <a:ext cx="345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1684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0292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88900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7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.png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tags" Target="../tags/tag8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6" Type="http://schemas.openxmlformats.org/officeDocument/2006/relationships/notesSlide" Target="../notesSlides/notesSlide1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03.xml"/><Relationship Id="rId23" Type="http://schemas.openxmlformats.org/officeDocument/2006/relationships/tags" Target="../tags/tag102.xml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tags" Target="../tags/tag99.xml"/><Relationship Id="rId2" Type="http://schemas.openxmlformats.org/officeDocument/2006/relationships/tags" Target="../tags/tag81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0" Type="http://schemas.openxmlformats.org/officeDocument/2006/relationships/notesSlide" Target="../notesSlides/notesSlide16.xml"/><Relationship Id="rId3" Type="http://schemas.openxmlformats.org/officeDocument/2006/relationships/tags" Target="../tags/tag106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131.xml"/><Relationship Id="rId27" Type="http://schemas.openxmlformats.org/officeDocument/2006/relationships/tags" Target="../tags/tag130.xml"/><Relationship Id="rId26" Type="http://schemas.openxmlformats.org/officeDocument/2006/relationships/tags" Target="../tags/tag129.xml"/><Relationship Id="rId25" Type="http://schemas.openxmlformats.org/officeDocument/2006/relationships/tags" Target="../tags/tag128.xml"/><Relationship Id="rId24" Type="http://schemas.openxmlformats.org/officeDocument/2006/relationships/tags" Target="../tags/tag127.xml"/><Relationship Id="rId23" Type="http://schemas.openxmlformats.org/officeDocument/2006/relationships/tags" Target="../tags/tag126.xml"/><Relationship Id="rId22" Type="http://schemas.openxmlformats.org/officeDocument/2006/relationships/tags" Target="../tags/tag125.xml"/><Relationship Id="rId21" Type="http://schemas.openxmlformats.org/officeDocument/2006/relationships/tags" Target="../tags/tag124.xml"/><Relationship Id="rId20" Type="http://schemas.openxmlformats.org/officeDocument/2006/relationships/tags" Target="../tags/tag123.xml"/><Relationship Id="rId2" Type="http://schemas.openxmlformats.org/officeDocument/2006/relationships/tags" Target="../tags/tag105.xml"/><Relationship Id="rId19" Type="http://schemas.openxmlformats.org/officeDocument/2006/relationships/tags" Target="../tags/tag122.xml"/><Relationship Id="rId18" Type="http://schemas.openxmlformats.org/officeDocument/2006/relationships/tags" Target="../tags/tag121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2191695" cy="17373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48840"/>
            <a:ext cx="1219169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基于参数高效微调的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钢轨表面缺陷检测方法研究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1417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本科生毕业设计（论文）答辩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1695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00000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报 告 人：</a:t>
            </a:r>
            <a:r>
              <a:rPr lang="en-US" sz="1800" kern="0" spc="200" dirty="0">
                <a:solidFill>
                  <a:srgbClr val="00000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王 壹 鸣</a:t>
            </a:r>
            <a:endParaRPr lang="en-US" sz="1800" dirty="0"/>
          </a:p>
          <a:p>
            <a:pPr marL="0" indent="0" algn="ctr">
              <a:buNone/>
            </a:pPr>
            <a:r>
              <a:rPr lang="en-US" sz="800" kern="0" spc="2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kern="0" spc="200" dirty="0">
                <a:solidFill>
                  <a:srgbClr val="00000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指导教师：</a:t>
            </a:r>
            <a:r>
              <a:rPr lang="en-US" sz="1800" kern="0" spc="200" dirty="0">
                <a:solidFill>
                  <a:srgbClr val="00000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唐  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软件学院  软件工程2202班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 5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汇 报 提 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 flipH="1">
            <a:off x="3291840" y="1554480"/>
            <a:ext cx="548640" cy="777240"/>
          </a:xfrm>
          <a:prstGeom prst="rtTriangl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840480" y="1554480"/>
            <a:ext cx="914400" cy="777240"/>
          </a:xfrm>
          <a:prstGeom prst="rect">
            <a:avLst/>
          </a:prstGeom>
          <a:solidFill>
            <a:srgbClr val="1E3A6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3840480" y="1554480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一</a:t>
            </a:r>
            <a:endParaRPr lang="zh-CN" altLang="en-US" sz="26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754880" y="1554480"/>
            <a:ext cx="4572000" cy="7772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937760" y="155448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研究背景与意义</a:t>
            </a:r>
            <a:endParaRPr lang="en-US" sz="22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 flipH="1">
            <a:off x="3291840" y="2560320"/>
            <a:ext cx="548640" cy="777240"/>
          </a:xfrm>
          <a:prstGeom prst="rtTriangl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3840480" y="2560320"/>
            <a:ext cx="914400" cy="777240"/>
          </a:xfrm>
          <a:prstGeom prst="rect">
            <a:avLst/>
          </a:prstGeom>
          <a:solidFill>
            <a:srgbClr val="1E3A6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840480" y="2560320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二</a:t>
            </a:r>
            <a:endParaRPr lang="zh-CN" altLang="en-US" sz="26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4754880" y="2560320"/>
            <a:ext cx="4572000" cy="7772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937760" y="256032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国内外研究现状</a:t>
            </a:r>
            <a:endParaRPr lang="en-US" sz="22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 flipH="1">
            <a:off x="3291840" y="3566160"/>
            <a:ext cx="548640" cy="777240"/>
          </a:xfrm>
          <a:prstGeom prst="rtTriangl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3840480" y="3566160"/>
            <a:ext cx="914400" cy="777240"/>
          </a:xfrm>
          <a:prstGeom prst="rect">
            <a:avLst/>
          </a:prstGeom>
          <a:solidFill>
            <a:srgbClr val="1E3A6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3840480" y="3566160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三</a:t>
            </a:r>
            <a:endParaRPr lang="zh-CN" altLang="en-US" sz="26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4754880" y="3566160"/>
            <a:ext cx="4572000" cy="7772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4937760" y="356616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方法设计</a:t>
            </a:r>
            <a:endParaRPr lang="en-US" sz="22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 flipH="1">
            <a:off x="3291840" y="4572000"/>
            <a:ext cx="548640" cy="777240"/>
          </a:xfrm>
          <a:prstGeom prst="rtTriangl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3840480" y="4572000"/>
            <a:ext cx="914400" cy="777240"/>
          </a:xfrm>
          <a:prstGeom prst="rect">
            <a:avLst/>
          </a:prstGeom>
          <a:solidFill>
            <a:srgbClr val="1E3A6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3840480" y="4572000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四</a:t>
            </a:r>
            <a:endParaRPr lang="zh-CN" altLang="en-US" sz="26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22" name="Shape 20"/>
          <p:cNvSpPr/>
          <p:nvPr>
            <p:custDataLst>
              <p:tags r:id="rId19"/>
            </p:custDataLst>
          </p:nvPr>
        </p:nvSpPr>
        <p:spPr>
          <a:xfrm>
            <a:off x="4754880" y="4572000"/>
            <a:ext cx="4572000" cy="7772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4937760" y="45720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实验与分析</a:t>
            </a:r>
            <a:endParaRPr lang="en-US" sz="220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 flipH="1">
            <a:off x="3291840" y="5577840"/>
            <a:ext cx="548640" cy="777240"/>
          </a:xfrm>
          <a:prstGeom prst="rtTriangl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3840480" y="5577840"/>
            <a:ext cx="914400" cy="777240"/>
          </a:xfrm>
          <a:prstGeom prst="rect">
            <a:avLst/>
          </a:prstGeom>
          <a:solidFill>
            <a:srgbClr val="1E3A6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3840480" y="5577840"/>
            <a:ext cx="914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五</a:t>
            </a:r>
            <a:endParaRPr lang="zh-CN" altLang="en-US" sz="26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27" name="Shape 25"/>
          <p:cNvSpPr/>
          <p:nvPr>
            <p:custDataLst>
              <p:tags r:id="rId24"/>
            </p:custDataLst>
          </p:nvPr>
        </p:nvSpPr>
        <p:spPr>
          <a:xfrm>
            <a:off x="4754880" y="5577840"/>
            <a:ext cx="4572000" cy="7772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4937760" y="557784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总结与展望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rot="5400000" flipV="1">
            <a:off x="1203046" y="-590428"/>
            <a:ext cx="1312621" cy="2495067"/>
            <a:chOff x="7618" y="672"/>
            <a:chExt cx="1180" cy="1213"/>
          </a:xfrm>
        </p:grpSpPr>
        <p:sp>
          <p:nvSpPr>
            <p:cNvPr id="16" name="等腰三角形 15"/>
            <p:cNvSpPr/>
            <p:nvPr/>
          </p:nvSpPr>
          <p:spPr>
            <a:xfrm rot="16200000" flipH="1" flipV="1">
              <a:off x="7728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20386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16200000">
            <a:off x="9476740" y="4142740"/>
            <a:ext cx="1515745" cy="3914775"/>
            <a:chOff x="7618" y="672"/>
            <a:chExt cx="1053" cy="1213"/>
          </a:xfrm>
        </p:grpSpPr>
        <p:sp>
          <p:nvSpPr>
            <p:cNvPr id="10" name="等腰三角形 9"/>
            <p:cNvSpPr/>
            <p:nvPr/>
          </p:nvSpPr>
          <p:spPr>
            <a:xfrm rot="16200000" flipH="1" flipV="1">
              <a:off x="7601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1202558" y="1311588"/>
            <a:ext cx="201168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9600" b="1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一</a:t>
            </a:r>
            <a:endParaRPr lang="zh-CN" altLang="en-US" sz="9600" b="1" kern="100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77310" y="2767330"/>
            <a:ext cx="4438015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zh-CN" altLang="en-US" sz="8000" b="1" kern="100" spc="3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Arial" panose="020B0604020202020204" pitchFamily="34" charset="0"/>
              </a:rPr>
              <a:t>研究背景</a:t>
            </a:r>
            <a:endParaRPr lang="zh-CN" altLang="en-US" sz="8000" b="1" kern="100" spc="300" dirty="0">
              <a:solidFill>
                <a:srgbClr val="000000"/>
              </a:solidFill>
              <a:latin typeface="+mn-ea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研究背景与意义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工业应用场景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4864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钢轨表面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缺陷（裂纹、剥落、压溃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等）检测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直接影响铁路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的长期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运行安全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已部署双模态视觉系统：Depth（深度）+ Intensity（光强）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，两种模态互补，同时感知纹理和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几何异常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工业系统的核心矛盾在于，实际工业场景下</a:t>
            </a:r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异常特征会随时间而漂移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，同时存在钢印、油污等非缺陷干扰，导致长期运行下</a:t>
            </a:r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误报、漏检现象增多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81025" y="4622165"/>
            <a:ext cx="4847590" cy="1457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并非从零训练一个新的静态检测模型；</a:t>
            </a:r>
            <a:r>
              <a:rPr 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解决系统长期运行中持续出现的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分布漂移导致检测能力下降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误报率随时间累积上升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全量重训代价高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等问题，因此</a:t>
            </a:r>
            <a:r>
              <a:rPr 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</a:t>
            </a:r>
            <a:endParaRPr 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低成本、可回滚、可持续</a:t>
            </a:r>
            <a:r>
              <a:rPr 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的适配方案</a:t>
            </a:r>
            <a:endParaRPr 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57200" y="402336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685800" y="397764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2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本课题核心</a:t>
            </a:r>
            <a:r>
              <a:rPr lang="zh-CN" altLang="en-US" sz="2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问题</a:t>
            </a:r>
            <a:endParaRPr lang="zh-CN" altLang="en-US" sz="2000" b="1" dirty="0">
              <a:solidFill>
                <a:srgbClr val="002060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99045" y="975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一些现实中的钢轨</a:t>
            </a:r>
            <a:r>
              <a:rPr lang="zh-CN" altLang="en-US"/>
              <a:t>缺陷</a:t>
            </a:r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6329680" y="1405890"/>
            <a:ext cx="5471795" cy="19627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680" y="3977640"/>
            <a:ext cx="5463540" cy="2216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rot="5400000" flipV="1">
            <a:off x="1203046" y="-590428"/>
            <a:ext cx="1312621" cy="2495067"/>
            <a:chOff x="7618" y="672"/>
            <a:chExt cx="1180" cy="1213"/>
          </a:xfrm>
        </p:grpSpPr>
        <p:sp>
          <p:nvSpPr>
            <p:cNvPr id="16" name="等腰三角形 15"/>
            <p:cNvSpPr/>
            <p:nvPr/>
          </p:nvSpPr>
          <p:spPr>
            <a:xfrm rot="16200000" flipH="1" flipV="1">
              <a:off x="7728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20386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16200000">
            <a:off x="9476740" y="4142740"/>
            <a:ext cx="1515745" cy="3914775"/>
            <a:chOff x="7618" y="672"/>
            <a:chExt cx="1053" cy="1213"/>
          </a:xfrm>
        </p:grpSpPr>
        <p:sp>
          <p:nvSpPr>
            <p:cNvPr id="10" name="等腰三角形 9"/>
            <p:cNvSpPr/>
            <p:nvPr/>
          </p:nvSpPr>
          <p:spPr>
            <a:xfrm rot="16200000" flipH="1" flipV="1">
              <a:off x="7601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1202558" y="1311588"/>
            <a:ext cx="201168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9600" b="1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二</a:t>
            </a:r>
            <a:endParaRPr lang="zh-CN" altLang="en-US" sz="9600" b="1" kern="100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381885" y="2767330"/>
            <a:ext cx="805434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zh-CN" altLang="en-US" sz="8000" b="1" kern="100" spc="3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Arial" panose="020B0604020202020204" pitchFamily="34" charset="0"/>
              </a:rPr>
              <a:t>国内外</a:t>
            </a:r>
            <a:r>
              <a:rPr lang="zh-CN" altLang="en-US" sz="8000" b="1" kern="100" spc="3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Arial" panose="020B0604020202020204" pitchFamily="34" charset="0"/>
              </a:rPr>
              <a:t>研究现状</a:t>
            </a:r>
            <a:endParaRPr lang="zh-CN" altLang="en-US" sz="8000" b="1" kern="100" spc="300" dirty="0">
              <a:solidFill>
                <a:srgbClr val="000000"/>
              </a:solidFill>
              <a:latin typeface="+mn-ea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国内外研究现状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9728" cy="26060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工业异常检测主流方法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1663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重建式：自编码器 / 扩散模型</a:t>
            </a:r>
            <a:endParaRPr lang="en-US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表征式：PaDiM、PatchCore</a:t>
            </a:r>
            <a:endParaRPr lang="en-US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知识蒸馏式：RD4AD、TRD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5166360" cy="1828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46120"/>
            <a:ext cx="51663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本课题切入点：</a:t>
            </a:r>
            <a:r>
              <a:rPr lang="zh-CN" altLang="en-US" sz="1200" dirty="0"/>
              <a:t>这些方法在静态数据集上效果较好，但通常默认训练分布与测试分布一致，难以直接应对长期产线漂移。</a:t>
            </a:r>
            <a:endParaRPr lang="zh-CN" alt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109728" cy="26060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37160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持续异常检测（CAD）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51663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DNE、LeMO、UCAD</a:t>
            </a:r>
            <a:endParaRPr lang="en-US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冻结主干+可检索 prompt/knowledge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3154680"/>
            <a:ext cx="5166360" cy="1828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246120"/>
            <a:ext cx="51663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本课题切入点：</a:t>
            </a:r>
            <a:r>
              <a:rPr lang="zh-CN" altLang="en-US" sz="1200" dirty="0"/>
              <a:t>其中</a:t>
            </a:r>
            <a:r>
              <a:rPr lang="en-US" altLang="zh-CN" sz="1200" dirty="0"/>
              <a:t>prompt、memory bank、knowledge bank</a:t>
            </a:r>
            <a:r>
              <a:rPr lang="zh-CN" altLang="en-US" sz="1200" dirty="0"/>
              <a:t>等机制可以缓解新任务适配问题。但现有</a:t>
            </a:r>
            <a:r>
              <a:rPr lang="en-US" altLang="zh-CN" sz="1200" dirty="0"/>
              <a:t>CAD</a:t>
            </a:r>
            <a:r>
              <a:rPr lang="zh-CN" altLang="en-US" sz="1200" dirty="0"/>
              <a:t>多面向类别增量，且部分方法依赖</a:t>
            </a:r>
            <a:r>
              <a:rPr lang="en-US" altLang="zh-CN" sz="1200" dirty="0"/>
              <a:t>SAM、</a:t>
            </a:r>
            <a:r>
              <a:rPr lang="zh-CN" altLang="en-US" sz="1200" dirty="0"/>
              <a:t>视觉语言模型等大模型，部署成本较高。</a:t>
            </a:r>
            <a:endParaRPr lang="zh-CN" alt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69080"/>
            <a:ext cx="109728" cy="26060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6052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参数高效微调（PEFT）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51663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Adapter/LoRA/Prompt</a:t>
            </a:r>
            <a:endParaRPr lang="en-US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Selective FT（BitFit）</a:t>
            </a:r>
            <a:endParaRPr lang="en-US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Reprogramming/FiLM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5943600"/>
            <a:ext cx="5166360" cy="1828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035040"/>
            <a:ext cx="51663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本课题切入点：</a:t>
            </a:r>
            <a:r>
              <a:rPr lang="zh-CN" altLang="en-US" sz="1200" dirty="0">
                <a:solidFill>
                  <a:schemeClr val="tx1"/>
                </a:solidFill>
              </a:rPr>
              <a:t>具备参数少、可插拔、易回滚等优势，但在工业双模态异常检测中，PEFT对跨模态融合路径的影响仍缺少专门分析，缺少诊断工具。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17920" y="406908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069080"/>
            <a:ext cx="109728" cy="26060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16052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双模态 / 多模态异常检测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92240" y="4617720"/>
            <a:ext cx="516636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BTF、AST、M3DM、TRD</a:t>
            </a:r>
            <a:endParaRPr lang="en-US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跨模态 Filter/Amplifier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5943600"/>
            <a:ext cx="5166360" cy="1828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6035040"/>
            <a:ext cx="51663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本课题切入点：</a:t>
            </a:r>
            <a:r>
              <a:rPr lang="zh-CN" altLang="en-US" sz="1200" dirty="0">
                <a:solidFill>
                  <a:schemeClr val="tx1"/>
                </a:solidFill>
              </a:rPr>
              <a:t>训练时联合优化、部署时整体冻结，漂移后跨模态路径会失配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rot="5400000" flipV="1">
            <a:off x="1203046" y="-590428"/>
            <a:ext cx="1312621" cy="2495067"/>
            <a:chOff x="7618" y="672"/>
            <a:chExt cx="1180" cy="1213"/>
          </a:xfrm>
        </p:grpSpPr>
        <p:sp>
          <p:nvSpPr>
            <p:cNvPr id="16" name="等腰三角形 15"/>
            <p:cNvSpPr/>
            <p:nvPr/>
          </p:nvSpPr>
          <p:spPr>
            <a:xfrm rot="16200000" flipH="1" flipV="1">
              <a:off x="7728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20386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16200000">
            <a:off x="9476740" y="4142740"/>
            <a:ext cx="1515745" cy="3914775"/>
            <a:chOff x="7618" y="672"/>
            <a:chExt cx="1053" cy="1213"/>
          </a:xfrm>
        </p:grpSpPr>
        <p:sp>
          <p:nvSpPr>
            <p:cNvPr id="10" name="等腰三角形 9"/>
            <p:cNvSpPr/>
            <p:nvPr/>
          </p:nvSpPr>
          <p:spPr>
            <a:xfrm rot="16200000" flipH="1" flipV="1">
              <a:off x="7601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1202558" y="1311588"/>
            <a:ext cx="201168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9600" b="1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三</a:t>
            </a:r>
            <a:endParaRPr lang="zh-CN" altLang="en-US" sz="9600" b="1" kern="100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77310" y="2767330"/>
            <a:ext cx="4438015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zh-CN" altLang="en-US" sz="8000" b="1" kern="100" spc="3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Arial" panose="020B0604020202020204" pitchFamily="34" charset="0"/>
              </a:rPr>
              <a:t>方法设计</a:t>
            </a:r>
            <a:endParaRPr lang="zh-CN" altLang="en-US" sz="8000" b="1" kern="100" spc="300" dirty="0">
              <a:solidFill>
                <a:srgbClr val="000000"/>
              </a:solidFill>
              <a:latin typeface="+mn-ea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1、方法</a:t>
            </a:r>
            <a:r>
              <a:rPr lang="zh-CN" alt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框架</a:t>
            </a:r>
            <a:endParaRPr lang="zh-CN" altLang="en-US" sz="3000" b="1" dirty="0">
              <a:solidFill>
                <a:srgbClr val="002060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5175" y="1446530"/>
            <a:ext cx="11155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本文方法由四个互补模块构成，共同形成"</a:t>
            </a:r>
            <a:r>
              <a:rPr lang="en-US" sz="15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输入修正—路径诊断—协同修复—持续维护</a:t>
            </a:r>
            <a:r>
              <a:rPr 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"的闭环：</a:t>
            </a:r>
            <a:endParaRPr lang="en-US" sz="15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65175" y="3734435"/>
            <a:ext cx="1918970" cy="1417320"/>
          </a:xfrm>
          <a:prstGeom prst="roundRect">
            <a:avLst>
              <a:gd name="adj" fmla="val 516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418465" y="3825875"/>
            <a:ext cx="24878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966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18465" y="4145915"/>
            <a:ext cx="248785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DepthAffinePEFT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418465" y="4630547"/>
            <a:ext cx="248785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输入端2参数仿射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2733675" y="4246880"/>
            <a:ext cx="711200" cy="328930"/>
          </a:xfrm>
          <a:prstGeom prst="rightArrow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2684145" y="3771265"/>
            <a:ext cx="855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适配后特征</a:t>
            </a:r>
            <a:endParaRPr lang="zh-CN" altLang="en-US" sz="1400"/>
          </a:p>
        </p:txBody>
      </p:sp>
      <p:sp>
        <p:nvSpPr>
          <p:cNvPr id="42" name="Shape 3"/>
          <p:cNvSpPr/>
          <p:nvPr>
            <p:custDataLst>
              <p:tags r:id="rId6"/>
            </p:custDataLst>
          </p:nvPr>
        </p:nvSpPr>
        <p:spPr>
          <a:xfrm>
            <a:off x="3494405" y="3734435"/>
            <a:ext cx="1918970" cy="1417320"/>
          </a:xfrm>
          <a:prstGeom prst="roundRect">
            <a:avLst>
              <a:gd name="adj" fmla="val 516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3" name="Text 4"/>
          <p:cNvSpPr/>
          <p:nvPr>
            <p:custDataLst>
              <p:tags r:id="rId7"/>
            </p:custDataLst>
          </p:nvPr>
        </p:nvSpPr>
        <p:spPr>
          <a:xfrm>
            <a:off x="3147695" y="3825875"/>
            <a:ext cx="24878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966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02</a:t>
            </a:r>
            <a:endParaRPr lang="en-US" sz="1300" dirty="0"/>
          </a:p>
        </p:txBody>
      </p:sp>
      <p:sp>
        <p:nvSpPr>
          <p:cNvPr id="44" name="Text 5"/>
          <p:cNvSpPr/>
          <p:nvPr>
            <p:custDataLst>
              <p:tags r:id="rId8"/>
            </p:custDataLst>
          </p:nvPr>
        </p:nvSpPr>
        <p:spPr>
          <a:xfrm>
            <a:off x="3147695" y="4145915"/>
            <a:ext cx="248785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solated AUROC</a:t>
            </a:r>
            <a:endParaRPr lang="en-US" sz="15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45" name="Text 6"/>
          <p:cNvSpPr/>
          <p:nvPr>
            <p:custDataLst>
              <p:tags r:id="rId9"/>
            </p:custDataLst>
          </p:nvPr>
        </p:nvSpPr>
        <p:spPr>
          <a:xfrm>
            <a:off x="3147695" y="4630547"/>
            <a:ext cx="248785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跨模态路径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</a:t>
            </a:r>
            <a:endParaRPr lang="zh-CN" alt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6" name="Shape 7"/>
          <p:cNvSpPr/>
          <p:nvPr>
            <p:custDataLst>
              <p:tags r:id="rId10"/>
            </p:custDataLst>
          </p:nvPr>
        </p:nvSpPr>
        <p:spPr>
          <a:xfrm>
            <a:off x="5462905" y="4246880"/>
            <a:ext cx="711200" cy="328930"/>
          </a:xfrm>
          <a:prstGeom prst="rightArrow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7" name="Shape 3"/>
          <p:cNvSpPr/>
          <p:nvPr>
            <p:custDataLst>
              <p:tags r:id="rId11"/>
            </p:custDataLst>
          </p:nvPr>
        </p:nvSpPr>
        <p:spPr>
          <a:xfrm>
            <a:off x="6223635" y="3734435"/>
            <a:ext cx="1918970" cy="1417320"/>
          </a:xfrm>
          <a:prstGeom prst="roundRect">
            <a:avLst>
              <a:gd name="adj" fmla="val 516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8" name="Text 4"/>
          <p:cNvSpPr/>
          <p:nvPr>
            <p:custDataLst>
              <p:tags r:id="rId12"/>
            </p:custDataLst>
          </p:nvPr>
        </p:nvSpPr>
        <p:spPr>
          <a:xfrm>
            <a:off x="5876925" y="3825875"/>
            <a:ext cx="24878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966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03</a:t>
            </a:r>
            <a:endParaRPr lang="en-US" sz="1300" dirty="0"/>
          </a:p>
        </p:txBody>
      </p:sp>
      <p:sp>
        <p:nvSpPr>
          <p:cNvPr id="49" name="Text 5"/>
          <p:cNvSpPr/>
          <p:nvPr>
            <p:custDataLst>
              <p:tags r:id="rId13"/>
            </p:custDataLst>
          </p:nvPr>
        </p:nvSpPr>
        <p:spPr>
          <a:xfrm>
            <a:off x="5930900" y="4145915"/>
            <a:ext cx="248785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CF/CA S</a:t>
            </a: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elective FT</a:t>
            </a:r>
            <a:endParaRPr lang="en-US" sz="15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50" name="Text 6"/>
          <p:cNvSpPr/>
          <p:nvPr>
            <p:custDataLst>
              <p:tags r:id="rId14"/>
            </p:custDataLst>
          </p:nvPr>
        </p:nvSpPr>
        <p:spPr>
          <a:xfrm>
            <a:off x="5876925" y="4630547"/>
            <a:ext cx="248785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~108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协同微调</a:t>
            </a:r>
            <a:endParaRPr lang="zh-CN" alt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1" name="Shape 7"/>
          <p:cNvSpPr/>
          <p:nvPr>
            <p:custDataLst>
              <p:tags r:id="rId15"/>
            </p:custDataLst>
          </p:nvPr>
        </p:nvSpPr>
        <p:spPr>
          <a:xfrm>
            <a:off x="8192135" y="4246880"/>
            <a:ext cx="711200" cy="328930"/>
          </a:xfrm>
          <a:prstGeom prst="rightArrow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2" name="Shape 3"/>
          <p:cNvSpPr/>
          <p:nvPr>
            <p:custDataLst>
              <p:tags r:id="rId16"/>
            </p:custDataLst>
          </p:nvPr>
        </p:nvSpPr>
        <p:spPr>
          <a:xfrm>
            <a:off x="8952865" y="3765550"/>
            <a:ext cx="1918970" cy="1417320"/>
          </a:xfrm>
          <a:prstGeom prst="roundRect">
            <a:avLst>
              <a:gd name="adj" fmla="val 516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3" name="Text 4"/>
          <p:cNvSpPr/>
          <p:nvPr>
            <p:custDataLst>
              <p:tags r:id="rId17"/>
            </p:custDataLst>
          </p:nvPr>
        </p:nvSpPr>
        <p:spPr>
          <a:xfrm>
            <a:off x="8606155" y="3856990"/>
            <a:ext cx="248785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966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04</a:t>
            </a:r>
            <a:endParaRPr lang="en-US" sz="1300" dirty="0"/>
          </a:p>
        </p:txBody>
      </p:sp>
      <p:sp>
        <p:nvSpPr>
          <p:cNvPr id="54" name="Text 5"/>
          <p:cNvSpPr/>
          <p:nvPr>
            <p:custDataLst>
              <p:tags r:id="rId18"/>
            </p:custDataLst>
          </p:nvPr>
        </p:nvSpPr>
        <p:spPr>
          <a:xfrm>
            <a:off x="8676005" y="4147820"/>
            <a:ext cx="248785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CAD</a:t>
            </a:r>
            <a:r>
              <a:rPr lang="zh-CN" alt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补丁仓库</a:t>
            </a:r>
            <a:endParaRPr lang="zh-CN" altLang="en-US" sz="15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55" name="Text 6"/>
          <p:cNvSpPr/>
          <p:nvPr>
            <p:custDataLst>
              <p:tags r:id="rId19"/>
            </p:custDataLst>
          </p:nvPr>
        </p:nvSpPr>
        <p:spPr>
          <a:xfrm>
            <a:off x="8606155" y="4661662"/>
            <a:ext cx="248785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任务流持续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适配</a:t>
            </a:r>
            <a:endParaRPr lang="zh-CN" alt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828040" y="2414905"/>
            <a:ext cx="1781810" cy="8540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828040" y="2688590"/>
            <a:ext cx="20275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解决</a:t>
            </a:r>
            <a:r>
              <a:rPr lang="en-US" altLang="zh-CN" sz="1400">
                <a:solidFill>
                  <a:schemeClr val="bg1"/>
                </a:solidFill>
              </a:rPr>
              <a:t>Depth</a:t>
            </a:r>
            <a:r>
              <a:rPr lang="zh-CN" altLang="en-US" sz="1400">
                <a:solidFill>
                  <a:schemeClr val="bg1"/>
                </a:solidFill>
              </a:rPr>
              <a:t>输入漂移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3551555" y="2414905"/>
            <a:ext cx="1781810" cy="8540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3611880" y="2614295"/>
            <a:ext cx="17500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判断跨模态融合的</a:t>
            </a:r>
            <a:r>
              <a:rPr lang="zh-CN" altLang="en-US" sz="1400">
                <a:solidFill>
                  <a:schemeClr val="bg1"/>
                </a:solidFill>
              </a:rPr>
              <a:t>有效性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6306820" y="2414905"/>
            <a:ext cx="1781810" cy="8540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6318250" y="2688590"/>
            <a:ext cx="20275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解决跨模态路径</a:t>
            </a:r>
            <a:r>
              <a:rPr lang="zh-CN" altLang="en-US" sz="1400">
                <a:solidFill>
                  <a:schemeClr val="bg1"/>
                </a:solidFill>
              </a:rPr>
              <a:t>失配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9032875" y="2414905"/>
            <a:ext cx="1781810" cy="8540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9065260" y="2673350"/>
            <a:ext cx="20275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适配长期的持续</a:t>
            </a:r>
            <a:r>
              <a:rPr lang="zh-CN" altLang="en-US" sz="1400">
                <a:solidFill>
                  <a:schemeClr val="bg1"/>
                </a:solidFill>
              </a:rPr>
              <a:t>运行</a:t>
            </a:r>
            <a:endParaRPr lang="zh-CN" altLang="en-US" sz="1400">
              <a:solidFill>
                <a:schemeClr val="bg1"/>
              </a:solidFill>
            </a:endParaRPr>
          </a:p>
        </p:txBody>
      </p:sp>
      <p:cxnSp>
        <p:nvCxnSpPr>
          <p:cNvPr id="69" name="直接连接符 68"/>
          <p:cNvCxnSpPr>
            <a:stCxn id="57" idx="2"/>
            <a:endCxn id="5" idx="0"/>
          </p:cNvCxnSpPr>
          <p:nvPr/>
        </p:nvCxnSpPr>
        <p:spPr>
          <a:xfrm>
            <a:off x="1718945" y="3268980"/>
            <a:ext cx="5715" cy="46545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4388485" y="3270250"/>
            <a:ext cx="5715" cy="46545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7160260" y="3268980"/>
            <a:ext cx="5715" cy="46545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9932035" y="3284220"/>
            <a:ext cx="5715" cy="46545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5462905" y="3789045"/>
            <a:ext cx="855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失配</a:t>
            </a:r>
            <a:r>
              <a:rPr lang="zh-CN" altLang="en-US" sz="1400"/>
              <a:t>信号</a:t>
            </a:r>
            <a:endParaRPr lang="zh-CN" altLang="en-US" sz="1400"/>
          </a:p>
        </p:txBody>
      </p:sp>
      <p:sp>
        <p:nvSpPr>
          <p:cNvPr id="76" name="文本框 75"/>
          <p:cNvSpPr txBox="1"/>
          <p:nvPr/>
        </p:nvSpPr>
        <p:spPr>
          <a:xfrm>
            <a:off x="8192135" y="3771265"/>
            <a:ext cx="855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完整补丁</a:t>
            </a:r>
            <a:endParaRPr lang="zh-CN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2、DepthAffinePEFT 输入端轻量适配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模块设计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669280" cy="1005840"/>
          </a:xfrm>
          <a:prstGeom prst="rect">
            <a:avLst/>
          </a:prstGeom>
          <a:solidFill>
            <a:srgbClr val="F2F2F7"/>
          </a:solidFill>
          <a:ln w="6350">
            <a:solidFill>
              <a:srgbClr val="00206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594360" y="1828800"/>
                <a:ext cx="5486400" cy="5029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𝑥</m:t>
                          </m:r>
                          <m:r>
                            <a:rPr lang="en-US" sz="28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’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𝑑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34" charset="0"/>
                          <a:cs typeface="Cambria Math" panose="02040503050406030204" pitchFamily="34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34" charset="0"/>
                          <a:cs typeface="Cambria Math" panose="02040503050406030204" pitchFamily="34" charset="0"/>
                        </a:rPr>
                        <m:t>𝛾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𝑑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34" charset="0"/>
                          <a:cs typeface="Cambria Math" panose="02040503050406030204" pitchFamily="34" charset="0"/>
                        </a:rPr>
                        <m:t>+</m:t>
                      </m:r>
                      <m:r>
                        <a:rPr lang="en-US" sz="2800" i="1" dirty="0">
                          <a:latin typeface="Cambria Math" panose="02040503050406030204" pitchFamily="34" charset="0"/>
                          <a:cs typeface="Cambria Math" panose="02040503050406030204" pitchFamily="34" charset="0"/>
                        </a:rPr>
                        <m:t>𝛽</m:t>
                      </m:r>
                    </m:oMath>
                  </m:oMathPara>
                </a14:m>
                <a:endParaRPr lang="en-US" sz="2800" i="1" dirty="0">
                  <a:latin typeface="Cambria Math" panose="02040503050406030204" pitchFamily="34" charset="0"/>
                  <a:cs typeface="Cambria Math" panose="02040503050406030204" pitchFamily="34" charset="0"/>
                </a:endParaRPr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828800"/>
                <a:ext cx="5486400" cy="5029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594360" y="23317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γ、β：两个可学习标量（初始化 γ=1, β=0，等价于恒等映射</a:t>
            </a:r>
            <a:r>
              <a:rPr lang="en-US" sz="1200" i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2608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设计动机</a:t>
            </a:r>
            <a:endParaRPr lang="en-US" sz="1900" b="1" dirty="0">
              <a:solidFill>
                <a:srgbClr val="002060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6570" y="4698365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70" y="4652645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方法特点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17525" y="5292725"/>
            <a:ext cx="56692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仅2个可训练参数；只作用于Depth输入端</a:t>
            </a:r>
            <a:endParaRPr lang="en-US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推理仅引入一次标量乘加运算，时延增量可忽略</a:t>
            </a:r>
            <a:endParaRPr lang="en-US" sz="1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属于Reprogramming /FiLM类，适合全局漂移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55080" y="1315085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269365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Depth</a:t>
            </a:r>
            <a:r>
              <a:rPr lang="zh-CN" alt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漂移前后</a:t>
            </a:r>
            <a:r>
              <a:rPr lang="zh-CN" alt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直方图</a:t>
            </a:r>
            <a:endParaRPr lang="zh-CN" altLang="en-US" sz="1900" b="1" dirty="0">
              <a:solidFill>
                <a:srgbClr val="002060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355080" y="4652645"/>
            <a:ext cx="5349240" cy="1426210"/>
          </a:xfrm>
          <a:prstGeom prst="rect">
            <a:avLst/>
          </a:prstGeom>
          <a:solidFill>
            <a:srgbClr val="F2F2F7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4652645"/>
            <a:ext cx="109855" cy="142621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4725797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C0000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训练目标</a:t>
            </a:r>
            <a:endParaRPr lang="zh-CN" altLang="en-US" sz="1500" b="1" dirty="0">
              <a:solidFill>
                <a:srgbClr val="C00000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8"/>
              <p:cNvSpPr/>
              <p:nvPr/>
            </p:nvSpPr>
            <p:spPr>
              <a:xfrm>
                <a:off x="6629400" y="5064125"/>
                <a:ext cx="4983480" cy="987425"/>
              </a:xfrm>
              <a:prstGeom prst="rect">
                <a:avLst/>
              </a:prstGeom>
              <a:noFill/>
            </p:spPr>
            <p:txBody>
              <a:bodyPr wrap="square" rtlCol="0" anchor="t"/>
              <a:lstStyle/>
              <a:p>
                <a:pPr marL="0" algn="l">
                  <a:spcAft>
                    <a:spcPts val="300"/>
                  </a:spcAft>
                  <a:buClrTx/>
                  <a:buSzTx/>
                  <a:buNone/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使调制后的 Depth 输入在冻结 teacher 中产生的中层特征统计量，接近训练域参考分布：</a:t>
                </a:r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0" indent="0">
                  <a:spcAft>
                    <a:spcPts val="200"/>
                  </a:spcAft>
                  <a:buNone/>
                </a:pPr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0" indent="0">
                  <a:spcAft>
                    <a:spcPts val="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  <m:t>𝜇</m:t>
                          </m:r>
                          <m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  <m:t>,</m:t>
                          </m:r>
                          <m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  <m:t>𝜎</m:t>
                          </m:r>
                        </m:e>
                      </m:d>
                      <m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m:t>→</m:t>
                      </m:r>
                      <m:d>
                        <m:dPr>
                          <m:ctrlP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  <a:cs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  <a:cs typeface="微软雅黑" panose="020B0503020204020204" pitchFamily="34" charset="-122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  <a:cs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p>
                          <m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微软雅黑" panose="020B0503020204020204" pitchFamily="34" charset="-122"/>
                            </a:rPr>
                            <m:t>,</m:t>
                          </m:r>
                          <m:sSup>
                            <m:sSupPr>
                              <m:ctrlP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  <a:cs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  <a:cs typeface="微软雅黑" panose="020B0503020204020204" pitchFamily="34" charset="-122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  <a:cs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0" indent="0">
                  <a:spcAft>
                    <a:spcPts val="200"/>
                  </a:spcAft>
                  <a:buNone/>
                </a:pPr>
                <a:endParaRPr lang="en-US" altLang="zh-CN" sz="1200" dirty="0"/>
              </a:p>
              <a:p>
                <a:pPr marL="0" indent="0">
                  <a:spcAft>
                    <a:spcPts val="200"/>
                  </a:spcAft>
                  <a:buNone/>
                </a:pPr>
                <a:endParaRPr lang="en-US" altLang="zh-CN" sz="1200" dirty="0"/>
              </a:p>
            </p:txBody>
          </p:sp>
        </mc:Choice>
        <mc:Fallback>
          <p:sp>
            <p:nvSpPr>
              <p:cNvPr id="21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064125"/>
                <a:ext cx="4983480" cy="987425"/>
              </a:xfrm>
              <a:prstGeom prst="rect">
                <a:avLst/>
              </a:prstGeom>
              <a:blipFill rotWithShape="1">
                <a:blip r:embed="rId2"/>
                <a:stretch>
                  <a:fillRect b="-340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9"/>
          <p:cNvSpPr/>
          <p:nvPr/>
        </p:nvSpPr>
        <p:spPr>
          <a:xfrm>
            <a:off x="502920" y="3566160"/>
            <a:ext cx="56692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Cam4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的主要退化来自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Depth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模态输入端幅值与偏置漂移。因此优先采用最浅层、最低成本的输入端修正。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spcAft>
                <a:spcPts val="30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Adapter/LoRA在该场景下属于过度复杂化：既引入额外模块依赖，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spcAft>
                <a:spcPts val="300"/>
              </a:spcAft>
              <a:buClrTx/>
              <a:buSzTx/>
              <a:buFontTx/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也不能带来等比例性能提升。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spcAft>
                <a:spcPts val="300"/>
              </a:spcAft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2786" t="9149" r="2182" b="2907"/>
          <a:stretch>
            <a:fillRect/>
          </a:stretch>
        </p:blipFill>
        <p:spPr>
          <a:xfrm>
            <a:off x="6355080" y="1863725"/>
            <a:ext cx="5120005" cy="2475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3、Isolated AUROC 跨模态路径诊断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11155680" cy="960120"/>
          </a:xfrm>
          <a:prstGeom prst="rect">
            <a:avLst/>
          </a:prstGeom>
          <a:solidFill>
            <a:srgbClr val="F2F2F7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137160" cy="9601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fontAlgn="auto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仅修正Depth输入端后，跨模态CF/CA仍按原训练域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的跨模态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统计关系工作，与新分支表征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出现 "滞后失配"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。但传统Fusion AUROC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难以判断问题来源于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分支自身判别能力下降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还是跨模态路径反而污染了分支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需要一个能</a:t>
            </a:r>
            <a:r>
              <a:rPr 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解耦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二者贡献的诊断口径。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377440"/>
            <a:ext cx="5486400" cy="4572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Cross-conditioned AUROC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正常双模态前向时分支AUROC</a:t>
            </a:r>
            <a:endParaRPr 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580765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</a:t>
            </a:r>
            <a:r>
              <a:rPr lang="zh-CN" altLang="en-US" sz="1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表示</a:t>
            </a:r>
            <a:r>
              <a:rPr lang="en-US" sz="1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分支在 "跨模态路径参与" 下的判别能力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3774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377440"/>
            <a:ext cx="5486400" cy="4572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3774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Isolated AUROC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8803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将跨模态辅助替换为固定训练域参考后得到的分支 AUROC</a:t>
            </a: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分支 "脱离另一模态" 后的独立能力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657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（剥离 CF/CA 贡献，仅看本分支）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11155680" cy="502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348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跨模态路径贡献度  Δ = AUROC</a:t>
            </a:r>
            <a:r>
              <a:rPr lang="en-US" sz="11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cross</a:t>
            </a:r>
            <a:r>
              <a:rPr lang="en-US" sz="1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 − AUROC</a:t>
            </a:r>
            <a:r>
              <a:rPr lang="en-US" sz="11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isolated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5074920"/>
            <a:ext cx="36576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482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1663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48235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Δ &gt; 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" y="55778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48235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正向辅助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9436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跨模态路径帮助提升判别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5074920"/>
            <a:ext cx="36576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51663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Δ ≈ 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43400" y="55778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95959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中性化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43400" y="59436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跨模态路径基本无贡献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5074920"/>
            <a:ext cx="36576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51663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Δ &lt; 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92440" y="55778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路径污染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92440" y="59436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跨模态路径反而损害判别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035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4、CF/CA 协同选择性微调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失配原因分析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1901825"/>
            <a:ext cx="496062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DepthAffinePEFT仅修正Depth输入分布</a:t>
            </a:r>
            <a:endParaRPr 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CF/CA仍按"旧训练域统计关系"向另一分支注入信息</a:t>
            </a:r>
            <a:endParaRPr 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导致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旧CF/CA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Depth残留偏移传入Intensity，造成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跨模态路径污染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862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选择性微调策略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4434840"/>
            <a:ext cx="5760720" cy="685800"/>
          </a:xfrm>
          <a:prstGeom prst="rect">
            <a:avLst/>
          </a:prstGeom>
          <a:solidFill>
            <a:srgbClr val="F2F2F7"/>
          </a:solidFill>
          <a:ln w="6350">
            <a:solidFill>
              <a:srgbClr val="002060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502920" y="4434840"/>
                <a:ext cx="5760720" cy="685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indent="0" algn="ctr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34" charset="0"/>
                          <a:cs typeface="Cambria Math" panose="02040503050406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𝐷𝑒𝑝𝑡ℎ𝐴𝑓𝑓𝑖𝑛𝑒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34" charset="0"/>
                          <a:cs typeface="Cambria Math" panose="02040503050406030204" pitchFamily="34" charset="0"/>
                        </a:rPr>
                        <m:t>∪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 </m:t>
                          </m:r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𝐶𝐹</m:t>
                          </m:r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/</m:t>
                          </m:r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𝐶𝐴</m:t>
                          </m:r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34" charset="0"/>
                              <a:cs typeface="Cambria Math" panose="02040503050406030204" pitchFamily="34" charset="0"/>
                            </a:rPr>
                            <m:t>𝑠𝑒𝑙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434840"/>
                <a:ext cx="5760720" cy="685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502920" y="5166360"/>
            <a:ext cx="5760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θ</a:t>
            </a:r>
            <a:r>
              <a:rPr 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backbone</a:t>
            </a: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始终冻结；仅 ~108 个CF/CA参数被选择性解冻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5623560"/>
            <a:ext cx="5760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总训练损失</a:t>
            </a: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：特征分布匹配损失+CF/CA一致性约束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一次反向传播同步更新</a:t>
            </a:r>
            <a:endParaRPr lang="en-US" sz="13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46520" y="1280160"/>
            <a:ext cx="13716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2344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联合训练vs串联训练</a:t>
            </a:r>
            <a:endParaRPr lang="en-US" sz="1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446520" y="1828800"/>
          <a:ext cx="5257800" cy="2331720"/>
        </p:xfrm>
        <a:graphic>
          <a:graphicData uri="http://schemas.openxmlformats.org/drawingml/2006/table">
            <a:tbl>
              <a:tblPr/>
              <a:tblGrid>
                <a:gridCol w="1600200"/>
                <a:gridCol w="1143000"/>
                <a:gridCol w="1143000"/>
                <a:gridCol w="1371600"/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训练路线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Intensity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iso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Depth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iso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Fusion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AUROC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串联训练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(先PEFT再CF/CA)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0.3625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0.5875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0.6500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联合训练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(本文采用)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0.6750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0.6625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0.7750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446520" y="4343400"/>
            <a:ext cx="5257800" cy="2240280"/>
          </a:xfrm>
          <a:prstGeom prst="rect">
            <a:avLst/>
          </a:prstGeom>
          <a:solidFill>
            <a:srgbClr val="F2F2F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4343400"/>
            <a:ext cx="109728" cy="2240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0" y="44348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关键结论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75120" y="4846320"/>
            <a:ext cx="49377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串联训练</a:t>
            </a: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：分支被过度耦合到跨模态路径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</a:t>
            </a:r>
            <a:r>
              <a:rPr lang="en-US" sz="1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一旦路径波动整体性能立即坍塌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联合训练</a:t>
            </a: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：输入修正与跨模态路径修复同步发生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</a:t>
            </a:r>
            <a:r>
              <a:rPr lang="en-US" sz="1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分支独立能力保持，融合更稳定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5、面向CAD的补丁式持续适配框架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1155680" cy="960120"/>
          </a:xfrm>
          <a:prstGeom prst="rect">
            <a:avLst/>
          </a:prstGeom>
          <a:solidFill>
            <a:srgbClr val="F2F2F7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137160" cy="9601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CAD任务流定义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Tₖ = (Cₖ, tₖ, wₖ, Dₖ)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Cₖ : 视角  |  tₖ : 时间窗口  |  wₖ : 工况/设备状态  |  Dₖ : 数据分布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2194560" cy="14173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L0冻结主干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TRD主干模型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D9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(始终不更新)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2971800"/>
            <a:ext cx="502920" cy="411480"/>
          </a:xfrm>
          <a:prstGeom prst="rightArrow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33756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4688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2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468880"/>
            <a:ext cx="5303520" cy="41148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4688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L1 补丁仓库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0" y="297180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E3A6F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97180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P₁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Cam4·t₁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97180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E3A6F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97180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P₂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Cam?·t₂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07024" y="297180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E3A6F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07024" y="297180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P₃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(未来)</a:t>
            </a:r>
            <a:endParaRPr lang="en-US" sz="1100" b="1" dirty="0">
              <a:solidFill>
                <a:schemeClr val="bg1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23176" y="297180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E3A6F"/>
          </a:solidFill>
          <a:ln w="6350">
            <a:solidFill>
              <a:srgbClr val="002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2971800"/>
            <a:ext cx="1051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Pₖ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…</a:t>
            </a:r>
            <a:endParaRPr lang="en-US" sz="1100" b="1" dirty="0">
              <a:solidFill>
                <a:schemeClr val="bg1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686800" y="2971800"/>
            <a:ext cx="502920" cy="411480"/>
          </a:xfrm>
          <a:prstGeom prst="rightArrow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333756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查表</a:t>
            </a:r>
            <a:endParaRPr lang="en-US" sz="1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235440" y="2468880"/>
            <a:ext cx="24231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20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0" y="2468880"/>
            <a:ext cx="2423160" cy="36576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24688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任务映射表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26880" y="2880360"/>
            <a:ext cx="22860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Cam4·t₁  →  P₁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Cam?·t₂  →  P₂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未命中  →  原L0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16052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单个补丁的构成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" y="4663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Pₖ = (θ</a:t>
            </a:r>
            <a:r>
              <a:rPr lang="en-US" sz="1100" b="1" i="1" dirty="0">
                <a:solidFill>
                  <a:srgbClr val="002060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DepthAffine</a:t>
            </a:r>
            <a:r>
              <a:rPr lang="en-US" sz="1600" b="1" dirty="0">
                <a:solidFill>
                  <a:srgbClr val="002060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 , θ</a:t>
            </a:r>
            <a:r>
              <a:rPr lang="en-US" sz="1100" b="1" dirty="0">
                <a:solidFill>
                  <a:srgbClr val="002060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CF/CA-sel</a:t>
            </a:r>
            <a:r>
              <a:rPr lang="en-US" sz="1600" b="1" dirty="0">
                <a:solidFill>
                  <a:srgbClr val="002060"/>
                </a:solidFill>
                <a:latin typeface="Cambria Math" panose="02040503050406030204" pitchFamily="34" charset="0"/>
                <a:ea typeface="Cambria Math" panose="02040503050406030204" pitchFamily="34" charset="-122"/>
                <a:cs typeface="Cambria Math" panose="02040503050406030204" pitchFamily="34" charset="-120"/>
              </a:rPr>
              <a:t> , 元数据 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" y="5029200"/>
            <a:ext cx="54864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元数据：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训练时间 / 数据来源 / 4 折交叉验证结果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主干模型哈希 / 补丁版本号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46520" y="4160520"/>
            <a:ext cx="13716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1148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框架优势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46520" y="4160520"/>
            <a:ext cx="52578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补丁互不覆盖，新任务不改写旧任务参数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任务私有：Cam4 补丁不可强加到 Cam1/Cam5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可独立停用、删除即回滚到 baseline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灰度发布友好，降低产线上线风险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rot="5400000" flipV="1">
            <a:off x="1203046" y="-590428"/>
            <a:ext cx="1312621" cy="2495067"/>
            <a:chOff x="7618" y="672"/>
            <a:chExt cx="1180" cy="1213"/>
          </a:xfrm>
        </p:grpSpPr>
        <p:sp>
          <p:nvSpPr>
            <p:cNvPr id="16" name="等腰三角形 15"/>
            <p:cNvSpPr/>
            <p:nvPr/>
          </p:nvSpPr>
          <p:spPr>
            <a:xfrm rot="16200000" flipH="1" flipV="1">
              <a:off x="7728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20386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16200000">
            <a:off x="9476740" y="4142740"/>
            <a:ext cx="1515745" cy="3914775"/>
            <a:chOff x="7618" y="672"/>
            <a:chExt cx="1053" cy="1213"/>
          </a:xfrm>
        </p:grpSpPr>
        <p:sp>
          <p:nvSpPr>
            <p:cNvPr id="10" name="等腰三角形 9"/>
            <p:cNvSpPr/>
            <p:nvPr/>
          </p:nvSpPr>
          <p:spPr>
            <a:xfrm rot="16200000" flipH="1" flipV="1">
              <a:off x="7601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1202558" y="1311588"/>
            <a:ext cx="201168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9600" b="1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四</a:t>
            </a:r>
            <a:endParaRPr lang="zh-CN" altLang="en-US" sz="9600" b="1" kern="100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61360" y="2757805"/>
            <a:ext cx="7756525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zh-CN" altLang="en-US" sz="8000" b="1" kern="100" spc="3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Arial" panose="020B0604020202020204" pitchFamily="34" charset="0"/>
              </a:rPr>
              <a:t>实验与分析</a:t>
            </a:r>
            <a:endParaRPr lang="zh-CN" altLang="en-US" sz="8000" b="1" kern="100" spc="300" dirty="0">
              <a:solidFill>
                <a:srgbClr val="000000"/>
              </a:solidFill>
              <a:latin typeface="+mn-ea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1、实验</a:t>
            </a:r>
            <a:r>
              <a:rPr lang="zh-CN" alt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数据集</a:t>
            </a:r>
            <a:endParaRPr lang="zh-CN" altLang="en-US" sz="3000" b="1" dirty="0">
              <a:solidFill>
                <a:srgbClr val="002060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钢轨双模态数据集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02920" y="1783080"/>
          <a:ext cx="5486400" cy="201168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960120"/>
                <a:gridCol w="1280160"/>
                <a:gridCol w="132588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视角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(正常)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验证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(正常)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(正常/异常)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Cam1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1800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11 / 10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远端旧分布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Cam4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1800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 / 10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漂移目标视角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1800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 / 7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邻近旧分布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397764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93192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学术</a:t>
            </a:r>
            <a:r>
              <a:rPr lang="zh-CN" altLang="en-US" sz="18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与</a:t>
            </a:r>
            <a:r>
              <a:rPr lang="en-US" sz="18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工程双重评价指标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504825" y="4477385"/>
          <a:ext cx="5478145" cy="2241550"/>
        </p:xfrm>
        <a:graphic>
          <a:graphicData uri="http://schemas.openxmlformats.org/drawingml/2006/table">
            <a:tbl>
              <a:tblPr/>
              <a:tblGrid>
                <a:gridCol w="1061720"/>
                <a:gridCol w="4416425"/>
              </a:tblGrid>
              <a:tr h="448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类别</a:t>
                      </a:r>
                      <a:endParaRPr lang="zh-CN" alt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指标名</a:t>
                      </a:r>
                      <a:endParaRPr lang="zh-CN" altLang="en-US" sz="12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48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检测性能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Image AUROC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Pixel AUROC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Fusion AUROC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FP@R100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跨模态诊断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Cross-conditioned AUROC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Isolated AUROC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Δ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3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持续学习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FWT (新任务适配)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BWT (旧任务保持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）</a:t>
                      </a:r>
                      <a:endParaRPr lang="zh-CN" altLang="en-US" sz="11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  <a:sym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31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工程指标</a:t>
                      </a:r>
                      <a:endParaRPr lang="zh-CN" altLang="en-US" sz="12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可训练参数量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训练耗时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推理时延增量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补丁大小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，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回滚成本</a:t>
                      </a:r>
                      <a:endParaRPr lang="en-US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7058660" y="6058535"/>
            <a:ext cx="4756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数据集中正常</a:t>
            </a:r>
            <a:r>
              <a:rPr lang="en-US" altLang="zh-CN" sz="1400"/>
              <a:t>/</a:t>
            </a:r>
            <a:r>
              <a:rPr lang="zh-CN" altLang="en-US" sz="1400"/>
              <a:t>异常样本的灰度</a:t>
            </a:r>
            <a:r>
              <a:rPr lang="en-US" altLang="zh-CN" sz="1400"/>
              <a:t>/</a:t>
            </a:r>
            <a:r>
              <a:rPr lang="zh-CN" altLang="en-US" sz="1400"/>
              <a:t>深度图像</a:t>
            </a:r>
            <a:endParaRPr lang="zh-CN" altLang="en-US" sz="1400"/>
          </a:p>
        </p:txBody>
      </p:sp>
      <p:pic>
        <p:nvPicPr>
          <p:cNvPr id="6" name="图片 4" descr="ChatGPT Image 2026年5月7日 22_35_39"/>
          <p:cNvPicPr>
            <a:picLocks noChangeAspect="1"/>
          </p:cNvPicPr>
          <p:nvPr/>
        </p:nvPicPr>
        <p:blipFill>
          <a:blip r:embed="rId1"/>
          <a:srcRect t="-218"/>
          <a:stretch>
            <a:fillRect/>
          </a:stretch>
        </p:blipFill>
        <p:spPr>
          <a:xfrm>
            <a:off x="6240780" y="1903413"/>
            <a:ext cx="5387975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2、主实验结果（Cam4视角）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7680960" y="12344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7680960" y="1234440"/>
            <a:ext cx="457200" cy="1234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7680960" y="123444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8229600" y="13258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Cam4 漂移严重</a:t>
            </a:r>
            <a:endParaRPr lang="en-US" sz="14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8229600" y="169164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 TRD: 0.3625 → 低于随机水平；FP@R100 = 8/8</a:t>
            </a:r>
            <a:endParaRPr lang="en-US" sz="1200" dirty="0"/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7680960" y="26060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7680960" y="2606040"/>
            <a:ext cx="457200" cy="1234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7680960" y="260604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11"/>
          <p:cNvSpPr/>
          <p:nvPr>
            <p:custDataLst>
              <p:tags r:id="rId9"/>
            </p:custDataLst>
          </p:nvPr>
        </p:nvSpPr>
        <p:spPr>
          <a:xfrm>
            <a:off x="8229600" y="26974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双模态融合困难</a:t>
            </a:r>
            <a:endParaRPr lang="en-US" sz="140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229600" y="306324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PaDim/PatchCore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等方法在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MVTec AD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MVTec 3D-AD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等单模态数据集效果很好，但在本课题中的钢轨数据集上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表现不佳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7680960" y="3977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2"/>
            </p:custDataLst>
          </p:nvPr>
        </p:nvSpPr>
        <p:spPr>
          <a:xfrm>
            <a:off x="7680960" y="3977640"/>
            <a:ext cx="457200" cy="1234440"/>
          </a:xfrm>
          <a:prstGeom prst="rect">
            <a:avLst/>
          </a:prstGeom>
          <a:solidFill>
            <a:srgbClr val="548235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7680960" y="3977640"/>
            <a:ext cx="457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/>
          <p:nvPr>
            <p:custDataLst>
              <p:tags r:id="rId14"/>
            </p:custDataLst>
          </p:nvPr>
        </p:nvSpPr>
        <p:spPr>
          <a:xfrm>
            <a:off x="8229600" y="40690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本文方法明显领先</a:t>
            </a:r>
            <a:endParaRPr lang="en-US" sz="1400" dirty="0"/>
          </a:p>
        </p:txBody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8229600" y="443484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图像级+7.5pp，FP 误报减少 5 张；在双模态下稳定优于所有 baseline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5486400"/>
            <a:ext cx="11247120" cy="10058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5321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9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r>
              <a:rPr lang="zh-CN" altLang="en-US" sz="1600" b="1" dirty="0">
                <a:solidFill>
                  <a:srgbClr val="FFD9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在双模态部署的工程约束下，本文方法是唯一在Cam4上同时取得</a:t>
            </a:r>
            <a:r>
              <a:rPr lang="en-US" sz="1300" b="1" dirty="0">
                <a:solidFill>
                  <a:srgbClr val="FFD9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高AUROC+低FP@R100</a:t>
            </a: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的方案；不需要改造采集管线，可直接挂载到现有TRD主干。</a:t>
            </a:r>
            <a:endParaRPr lang="en-US" sz="16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6"/>
          <a:srcRect t="7461"/>
          <a:stretch>
            <a:fillRect/>
          </a:stretch>
        </p:blipFill>
        <p:spPr>
          <a:xfrm>
            <a:off x="133985" y="1234440"/>
            <a:ext cx="7355205" cy="39236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3、消融实验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 递进式消融：两个模块的贡献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1783080"/>
          <a:ext cx="5760720" cy="224663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645920"/>
                <a:gridCol w="109728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方案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可训练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参数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Cam4 Fusion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AUROC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FP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@R100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Baseline TRD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0.3500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8/8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 DepthAffinePEFT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0.6875  ↑0.34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7/8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7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 CF/CA Select FT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 110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0.7750  ↑0.43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3/8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97280" y="4553585"/>
            <a:ext cx="10346055" cy="1508760"/>
          </a:xfrm>
          <a:prstGeom prst="rect">
            <a:avLst/>
          </a:prstGeom>
          <a:solidFill>
            <a:srgbClr val="F2F2F7"/>
          </a:solidFill>
          <a:ln w="12700">
            <a:solidFill>
              <a:srgbClr val="C0000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097280" y="4553585"/>
            <a:ext cx="196850" cy="1508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23035" y="4645025"/>
            <a:ext cx="9770745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仅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2个参数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即可恢复33.75%性能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：表明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输入端漂移确实是主因</a:t>
            </a:r>
            <a:endParaRPr 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100"/>
              </a:spcAft>
              <a:buNone/>
            </a:pP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仅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输入还不够，融合层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也存在独立失配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，CF/CA协同微调进一步带来+8.75pp</a:t>
            </a:r>
            <a:endParaRPr 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100"/>
              </a:spcAft>
              <a:buNone/>
            </a:pP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两个模块解决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两个独立问题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，缺一不可</a:t>
            </a:r>
            <a:endParaRPr lang="en-US" sz="1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t="7699"/>
          <a:stretch>
            <a:fillRect/>
          </a:stretch>
        </p:blipFill>
        <p:spPr>
          <a:xfrm>
            <a:off x="6498590" y="1736090"/>
            <a:ext cx="5266690" cy="260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3、消融实验</a:t>
            </a:r>
            <a:endParaRPr lang="en-US" sz="3000" dirty="0"/>
          </a:p>
        </p:txBody>
      </p:sp>
      <p:sp>
        <p:nvSpPr>
          <p:cNvPr id="26" name="Shape 7"/>
          <p:cNvSpPr/>
          <p:nvPr/>
        </p:nvSpPr>
        <p:spPr>
          <a:xfrm>
            <a:off x="575945" y="123952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7" name="Text 8"/>
          <p:cNvSpPr/>
          <p:nvPr/>
        </p:nvSpPr>
        <p:spPr>
          <a:xfrm>
            <a:off x="804545" y="11938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CF/CA 模块协同必要性</a:t>
            </a:r>
            <a:endParaRPr lang="en-US" sz="170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945" y="1733550"/>
          <a:ext cx="5282565" cy="2248535"/>
        </p:xfrm>
        <a:graphic>
          <a:graphicData uri="http://schemas.openxmlformats.org/drawingml/2006/table">
            <a:tbl>
              <a:tblPr/>
              <a:tblGrid>
                <a:gridCol w="1129030"/>
                <a:gridCol w="993140"/>
                <a:gridCol w="2077085"/>
                <a:gridCol w="1083310"/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方案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Train-all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 折 CV mean ± std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FP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@R100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cf_only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0.653 ± 0.152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2/8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ca_only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0.475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0.450 ± 0.071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7/8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cf+ca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0.775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0.847 ± 0.085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3/8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9" name="Shape 9"/>
          <p:cNvSpPr/>
          <p:nvPr/>
        </p:nvSpPr>
        <p:spPr>
          <a:xfrm>
            <a:off x="1248410" y="4578350"/>
            <a:ext cx="9543415" cy="1691640"/>
          </a:xfrm>
          <a:prstGeom prst="rect">
            <a:avLst/>
          </a:prstGeom>
          <a:solidFill>
            <a:srgbClr val="F2F2F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10"/>
          <p:cNvSpPr/>
          <p:nvPr/>
        </p:nvSpPr>
        <p:spPr>
          <a:xfrm>
            <a:off x="1248410" y="4578350"/>
            <a:ext cx="109728" cy="1691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1" name="Text 11"/>
          <p:cNvSpPr/>
          <p:nvPr/>
        </p:nvSpPr>
        <p:spPr>
          <a:xfrm>
            <a:off x="1520825" y="4646930"/>
            <a:ext cx="641096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cf_only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效果好，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但CV区间[0.45, 0.81]过宽 → 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过拟合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100"/>
              </a:spcAft>
              <a:buNone/>
            </a:pP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ca_only整体退化，破坏原跨模态平衡</a:t>
            </a:r>
            <a:endParaRPr 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100"/>
              </a:spcAft>
              <a:buNone/>
            </a:pP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cf+ca联合微调4折均值最高，方差最小→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CF与CA在跨模态调制中具有强耦合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</a:t>
            </a:r>
            <a:r>
              <a:rPr lang="en-US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必须协同更新才能稳定</a:t>
            </a:r>
            <a:endParaRPr lang="en-US" sz="1400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rcRect t="7863"/>
          <a:stretch>
            <a:fillRect/>
          </a:stretch>
        </p:blipFill>
        <p:spPr>
          <a:xfrm>
            <a:off x="6158865" y="1743075"/>
            <a:ext cx="5303520" cy="25596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4、Isolated AUROC 诊断实验</a:t>
            </a:r>
            <a:endParaRPr lang="en-US" sz="30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 t="12079"/>
          <a:stretch>
            <a:fillRect/>
          </a:stretch>
        </p:blipFill>
        <p:spPr>
          <a:xfrm>
            <a:off x="0" y="1260475"/>
            <a:ext cx="12192000" cy="1807210"/>
          </a:xfrm>
          <a:prstGeom prst="rect">
            <a:avLst/>
          </a:prstGeom>
        </p:spPr>
      </p:pic>
      <p:sp>
        <p:nvSpPr>
          <p:cNvPr id="23" name="Shape 3"/>
          <p:cNvSpPr/>
          <p:nvPr>
            <p:custDataLst>
              <p:tags r:id="rId2"/>
            </p:custDataLst>
          </p:nvPr>
        </p:nvSpPr>
        <p:spPr>
          <a:xfrm>
            <a:off x="181610" y="3589655"/>
            <a:ext cx="2454275" cy="20478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ysDot"/>
          </a:ln>
        </p:spPr>
      </p:sp>
      <p:sp>
        <p:nvSpPr>
          <p:cNvPr id="24" name="Shape 4"/>
          <p:cNvSpPr/>
          <p:nvPr>
            <p:custDataLst>
              <p:tags r:id="rId3"/>
            </p:custDataLst>
          </p:nvPr>
        </p:nvSpPr>
        <p:spPr>
          <a:xfrm>
            <a:off x="181610" y="3211195"/>
            <a:ext cx="2454275" cy="373380"/>
          </a:xfrm>
          <a:prstGeom prst="rect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25" name="Text 5"/>
          <p:cNvSpPr/>
          <p:nvPr>
            <p:custDataLst>
              <p:tags r:id="rId4"/>
            </p:custDataLst>
          </p:nvPr>
        </p:nvSpPr>
        <p:spPr>
          <a:xfrm>
            <a:off x="175895" y="3261995"/>
            <a:ext cx="2609215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Calibri" panose="020F0502020204030204" charset="0"/>
                <a:ea typeface="黑体" panose="02010609060101010101" pitchFamily="34" charset="-122"/>
                <a:cs typeface="黑体" panose="02010609060101010101" pitchFamily="34" charset="-120"/>
              </a:rPr>
              <a:t>① </a:t>
            </a:r>
            <a:r>
              <a:rPr lang="zh-CN" altLang="en-US" sz="1700" b="1" dirty="0">
                <a:solidFill>
                  <a:schemeClr val="tx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路径污染</a:t>
            </a:r>
            <a:endParaRPr lang="zh-CN" altLang="en-US" sz="1700" b="1" dirty="0">
              <a:solidFill>
                <a:schemeClr val="tx1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71" name="文本框 70"/>
          <p:cNvSpPr txBox="1"/>
          <p:nvPr>
            <p:custDataLst>
              <p:tags r:id="rId5"/>
            </p:custDataLst>
          </p:nvPr>
        </p:nvSpPr>
        <p:spPr>
          <a:xfrm>
            <a:off x="181610" y="3589655"/>
            <a:ext cx="1272540" cy="330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bg2">
                    <a:lumMod val="50000"/>
                  </a:schemeClr>
                </a:solidFill>
              </a:rPr>
              <a:t>peft_full</a:t>
            </a:r>
            <a:endParaRPr lang="en-US" altLang="zh-CN" sz="16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文本框 71"/>
          <p:cNvSpPr txBox="1"/>
          <p:nvPr>
            <p:custDataLst>
              <p:tags r:id="rId6"/>
            </p:custDataLst>
          </p:nvPr>
        </p:nvSpPr>
        <p:spPr>
          <a:xfrm>
            <a:off x="181610" y="3924935"/>
            <a:ext cx="2454910" cy="1711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黑体" panose="02010609060101010101" pitchFamily="34" charset="-122"/>
                <a:ea typeface="黑体" panose="02010609060101010101" pitchFamily="34" charset="-122"/>
              </a:rPr>
              <a:t>ΔIntensity </a:t>
            </a:r>
            <a:r>
              <a:rPr lang="en-US" altLang="zh-CN" sz="1400"/>
              <a:t>           </a:t>
            </a:r>
            <a:r>
              <a:rPr lang="en-US" altLang="zh-CN" sz="1400"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ΔDepth</a:t>
            </a:r>
            <a:endParaRPr lang="en-US" altLang="zh-CN" sz="1400"/>
          </a:p>
          <a:p>
            <a:r>
              <a:rPr lang="en-US" altLang="zh-CN" sz="1600">
                <a:solidFill>
                  <a:srgbClr val="FF0000"/>
                </a:solidFill>
              </a:rPr>
              <a:t>−0.2125</a:t>
            </a:r>
            <a:r>
              <a:rPr lang="en-US" altLang="zh-CN" sz="1600"/>
              <a:t>                   +0.0375</a:t>
            </a:r>
            <a:endParaRPr lang="en-US" altLang="zh-CN" sz="1600"/>
          </a:p>
          <a:p>
            <a:endParaRPr lang="en-US" altLang="zh-CN"/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旧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CF/CA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Depth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残留偏移传入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Intensity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分支，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分支判别被污染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，独立性显著负偏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8" name="Shape 3"/>
          <p:cNvSpPr/>
          <p:nvPr>
            <p:custDataLst>
              <p:tags r:id="rId7"/>
            </p:custDataLst>
          </p:nvPr>
        </p:nvSpPr>
        <p:spPr>
          <a:xfrm>
            <a:off x="3303270" y="3594735"/>
            <a:ext cx="2454275" cy="20415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ysDot"/>
          </a:ln>
        </p:spPr>
      </p:sp>
      <p:sp>
        <p:nvSpPr>
          <p:cNvPr id="89" name="Shape 4"/>
          <p:cNvSpPr/>
          <p:nvPr>
            <p:custDataLst>
              <p:tags r:id="rId8"/>
            </p:custDataLst>
          </p:nvPr>
        </p:nvSpPr>
        <p:spPr>
          <a:xfrm>
            <a:off x="3303270" y="3216275"/>
            <a:ext cx="2454275" cy="373380"/>
          </a:xfrm>
          <a:prstGeom prst="rect">
            <a:avLst/>
          </a:prstGeom>
          <a:solidFill>
            <a:srgbClr val="ECE8DE"/>
          </a:solidFill>
          <a:ln w="12700">
            <a:solidFill>
              <a:srgbClr val="ECE8DE"/>
            </a:solidFill>
            <a:prstDash val="solid"/>
          </a:ln>
        </p:spPr>
      </p:sp>
      <p:sp>
        <p:nvSpPr>
          <p:cNvPr id="90" name="Text 5"/>
          <p:cNvSpPr/>
          <p:nvPr>
            <p:custDataLst>
              <p:tags r:id="rId9"/>
            </p:custDataLst>
          </p:nvPr>
        </p:nvSpPr>
        <p:spPr>
          <a:xfrm>
            <a:off x="3225800" y="3261360"/>
            <a:ext cx="2609215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34" charset="-120"/>
              </a:rPr>
              <a:t>②</a:t>
            </a:r>
            <a:r>
              <a:rPr lang="en-US" altLang="zh-CN" sz="1700" b="1" dirty="0">
                <a:solidFill>
                  <a:schemeClr val="tx1"/>
                </a:solidFill>
                <a:latin typeface="Calibri" panose="020F0502020204030204" charset="0"/>
                <a:ea typeface="黑体" panose="02010609060101010101" pitchFamily="34" charset="-122"/>
                <a:cs typeface="黑体" panose="02010609060101010101" pitchFamily="34" charset="-120"/>
              </a:rPr>
              <a:t> </a:t>
            </a:r>
            <a:r>
              <a:rPr lang="zh-CN" altLang="en-US" sz="1700" b="1" dirty="0">
                <a:solidFill>
                  <a:schemeClr val="tx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消融基线</a:t>
            </a:r>
            <a:endParaRPr lang="zh-CN" altLang="en-US" sz="1700" b="1" dirty="0">
              <a:solidFill>
                <a:schemeClr val="tx1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91" name="文本框 90"/>
          <p:cNvSpPr txBox="1"/>
          <p:nvPr>
            <p:custDataLst>
              <p:tags r:id="rId10"/>
            </p:custDataLst>
          </p:nvPr>
        </p:nvSpPr>
        <p:spPr>
          <a:xfrm>
            <a:off x="3303270" y="3594735"/>
            <a:ext cx="1272540" cy="330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bg2">
                    <a:lumMod val="50000"/>
                  </a:schemeClr>
                </a:solidFill>
              </a:rPr>
              <a:t>no_cf_ca</a:t>
            </a:r>
            <a:endParaRPr lang="en-US" altLang="zh-CN" sz="16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2" name="文本框 91"/>
          <p:cNvSpPr txBox="1"/>
          <p:nvPr>
            <p:custDataLst>
              <p:tags r:id="rId11"/>
            </p:custDataLst>
          </p:nvPr>
        </p:nvSpPr>
        <p:spPr>
          <a:xfrm>
            <a:off x="3303270" y="3930015"/>
            <a:ext cx="2454910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黑体" panose="02010609060101010101" pitchFamily="34" charset="-122"/>
                <a:ea typeface="黑体" panose="02010609060101010101" pitchFamily="34" charset="-122"/>
              </a:rPr>
              <a:t>ΔIntensity </a:t>
            </a:r>
            <a:r>
              <a:rPr lang="en-US" altLang="zh-CN" sz="1400"/>
              <a:t>           </a:t>
            </a:r>
            <a:r>
              <a:rPr lang="en-US" altLang="zh-CN" sz="1400"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ΔDepth</a:t>
            </a:r>
            <a:endParaRPr lang="en-US" altLang="zh-CN" sz="1400"/>
          </a:p>
          <a:p>
            <a:r>
              <a:rPr lang="en-US" altLang="zh-CN" sz="1600">
                <a:latin typeface="Arial Unicode MS" panose="020B0604020202020204" charset="-122"/>
                <a:ea typeface="Arial Unicode MS" panose="020B0604020202020204" charset="-122"/>
              </a:rPr>
              <a:t> 0                                0</a:t>
            </a:r>
            <a:endParaRPr lang="en-US" altLang="zh-CN" sz="1600">
              <a:latin typeface="Arial Unicode MS" panose="020B0604020202020204" charset="-122"/>
              <a:ea typeface="Arial Unicode MS" panose="020B0604020202020204" charset="-122"/>
            </a:endParaRPr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去掉CF/CA：分支干净独立，但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缺少跨模态正向辅助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，AUROC 提升有上限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3" name="Shape 3"/>
          <p:cNvSpPr/>
          <p:nvPr>
            <p:custDataLst>
              <p:tags r:id="rId12"/>
            </p:custDataLst>
          </p:nvPr>
        </p:nvSpPr>
        <p:spPr>
          <a:xfrm>
            <a:off x="6424930" y="3589655"/>
            <a:ext cx="2454275" cy="205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ysDot"/>
          </a:ln>
        </p:spPr>
      </p:sp>
      <p:sp>
        <p:nvSpPr>
          <p:cNvPr id="94" name="Shape 4"/>
          <p:cNvSpPr/>
          <p:nvPr>
            <p:custDataLst>
              <p:tags r:id="rId13"/>
            </p:custDataLst>
          </p:nvPr>
        </p:nvSpPr>
        <p:spPr>
          <a:xfrm>
            <a:off x="6424930" y="3211195"/>
            <a:ext cx="2454275" cy="373380"/>
          </a:xfrm>
          <a:prstGeom prst="rect">
            <a:avLst/>
          </a:prstGeom>
          <a:solidFill>
            <a:srgbClr val="FBEEDE"/>
          </a:solidFill>
          <a:ln w="12700">
            <a:solidFill>
              <a:srgbClr val="FBEEDE"/>
            </a:solidFill>
            <a:prstDash val="solid"/>
          </a:ln>
        </p:spPr>
      </p:sp>
      <p:sp>
        <p:nvSpPr>
          <p:cNvPr id="95" name="Text 5"/>
          <p:cNvSpPr/>
          <p:nvPr>
            <p:custDataLst>
              <p:tags r:id="rId14"/>
            </p:custDataLst>
          </p:nvPr>
        </p:nvSpPr>
        <p:spPr>
          <a:xfrm>
            <a:off x="6275705" y="3261995"/>
            <a:ext cx="2609215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34" charset="-120"/>
              </a:rPr>
              <a:t>③</a:t>
            </a:r>
            <a:r>
              <a:rPr lang="en-US" altLang="zh-CN" sz="1700" b="1" dirty="0">
                <a:solidFill>
                  <a:schemeClr val="tx1"/>
                </a:solidFill>
                <a:latin typeface="Calibri" panose="020F0502020204030204" charset="0"/>
                <a:ea typeface="黑体" panose="02010609060101010101" pitchFamily="34" charset="-122"/>
                <a:cs typeface="黑体" panose="02010609060101010101" pitchFamily="34" charset="-120"/>
              </a:rPr>
              <a:t> </a:t>
            </a:r>
            <a:r>
              <a:rPr lang="zh-CN" altLang="en-US" sz="1700" b="1" dirty="0">
                <a:solidFill>
                  <a:schemeClr val="tx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过度</a:t>
            </a:r>
            <a:r>
              <a:rPr lang="zh-CN" altLang="en-US" sz="1700" b="1" dirty="0">
                <a:solidFill>
                  <a:schemeClr val="tx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耦合</a:t>
            </a:r>
            <a:endParaRPr lang="zh-CN" altLang="en-US" sz="1700" b="1" dirty="0">
              <a:solidFill>
                <a:schemeClr val="tx1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96" name="文本框 95"/>
          <p:cNvSpPr txBox="1"/>
          <p:nvPr>
            <p:custDataLst>
              <p:tags r:id="rId15"/>
            </p:custDataLst>
          </p:nvPr>
        </p:nvSpPr>
        <p:spPr>
          <a:xfrm>
            <a:off x="6424930" y="3589655"/>
            <a:ext cx="1490345" cy="330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bg2">
                    <a:lumMod val="50000"/>
                  </a:schemeClr>
                </a:solidFill>
              </a:rPr>
              <a:t>peft</a:t>
            </a:r>
            <a:r>
              <a:rPr lang="en-US" altLang="zh-CN" sz="16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→cf_ca</a:t>
            </a:r>
            <a:endParaRPr lang="en-US" altLang="zh-CN" sz="160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>
            <p:custDataLst>
              <p:tags r:id="rId16"/>
            </p:custDataLst>
          </p:nvPr>
        </p:nvSpPr>
        <p:spPr>
          <a:xfrm>
            <a:off x="6424930" y="3924935"/>
            <a:ext cx="2454910" cy="1711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黑体" panose="02010609060101010101" pitchFamily="34" charset="-122"/>
                <a:ea typeface="黑体" panose="02010609060101010101" pitchFamily="34" charset="-122"/>
              </a:rPr>
              <a:t>ΔIntensity </a:t>
            </a:r>
            <a:r>
              <a:rPr lang="en-US" altLang="zh-CN" sz="1400"/>
              <a:t>           </a:t>
            </a:r>
            <a:r>
              <a:rPr lang="en-US" altLang="zh-CN" sz="1400"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ΔDepth</a:t>
            </a:r>
            <a:endParaRPr lang="en-US" altLang="zh-CN" sz="1400"/>
          </a:p>
          <a:p>
            <a:r>
              <a:rPr lang="en-US" altLang="zh-CN" sz="1600">
                <a:solidFill>
                  <a:srgbClr val="FF0000"/>
                </a:solidFill>
              </a:rPr>
              <a:t>+0.3250                   +0.2500</a:t>
            </a:r>
            <a:endParaRPr lang="en-US" altLang="zh-CN" sz="1600">
              <a:solidFill>
                <a:srgbClr val="FF0000"/>
              </a:solidFill>
            </a:endParaRPr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简单串联：分支独立性崩溃，整体过度依赖跨模态路径，鲁棒性差且性能反降。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8" name="Shape 3"/>
          <p:cNvSpPr/>
          <p:nvPr>
            <p:custDataLst>
              <p:tags r:id="rId17"/>
            </p:custDataLst>
          </p:nvPr>
        </p:nvSpPr>
        <p:spPr>
          <a:xfrm>
            <a:off x="9546590" y="3589020"/>
            <a:ext cx="2454275" cy="206629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ysDot"/>
          </a:ln>
        </p:spPr>
      </p:sp>
      <p:sp>
        <p:nvSpPr>
          <p:cNvPr id="99" name="Shape 4"/>
          <p:cNvSpPr/>
          <p:nvPr>
            <p:custDataLst>
              <p:tags r:id="rId18"/>
            </p:custDataLst>
          </p:nvPr>
        </p:nvSpPr>
        <p:spPr>
          <a:xfrm>
            <a:off x="9546590" y="3210560"/>
            <a:ext cx="2454275" cy="373380"/>
          </a:xfrm>
          <a:prstGeom prst="rect">
            <a:avLst/>
          </a:prstGeom>
          <a:solidFill>
            <a:srgbClr val="E6EFDC"/>
          </a:solidFill>
          <a:ln w="12700">
            <a:solidFill>
              <a:srgbClr val="E6EFDC"/>
            </a:solidFill>
            <a:prstDash val="solid"/>
          </a:ln>
        </p:spPr>
      </p:sp>
      <p:sp>
        <p:nvSpPr>
          <p:cNvPr id="100" name="Text 5"/>
          <p:cNvSpPr/>
          <p:nvPr>
            <p:custDataLst>
              <p:tags r:id="rId19"/>
            </p:custDataLst>
          </p:nvPr>
        </p:nvSpPr>
        <p:spPr>
          <a:xfrm>
            <a:off x="9469120" y="3261995"/>
            <a:ext cx="2609215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34" charset="-120"/>
              </a:rPr>
              <a:t>④</a:t>
            </a:r>
            <a:r>
              <a:rPr lang="en-US" altLang="zh-CN" sz="1700" b="1" dirty="0">
                <a:solidFill>
                  <a:schemeClr val="tx1"/>
                </a:solidFill>
                <a:latin typeface="Calibri" panose="020F0502020204030204" charset="0"/>
                <a:ea typeface="黑体" panose="02010609060101010101" pitchFamily="34" charset="-122"/>
                <a:cs typeface="黑体" panose="02010609060101010101" pitchFamily="34" charset="-120"/>
              </a:rPr>
              <a:t> </a:t>
            </a:r>
            <a:r>
              <a:rPr lang="zh-CN" altLang="en-US" sz="1700" b="1" dirty="0">
                <a:solidFill>
                  <a:schemeClr val="tx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健康</a:t>
            </a:r>
            <a:r>
              <a:rPr lang="zh-CN" altLang="en-US" sz="1700" b="1" dirty="0">
                <a:solidFill>
                  <a:schemeClr val="tx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协同</a:t>
            </a:r>
            <a:endParaRPr lang="zh-CN" altLang="en-US" sz="1700" b="1" dirty="0">
              <a:solidFill>
                <a:schemeClr val="tx1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01" name="文本框 100"/>
          <p:cNvSpPr txBox="1"/>
          <p:nvPr>
            <p:custDataLst>
              <p:tags r:id="rId20"/>
            </p:custDataLst>
          </p:nvPr>
        </p:nvSpPr>
        <p:spPr>
          <a:xfrm>
            <a:off x="9546590" y="3589020"/>
            <a:ext cx="1426845" cy="330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chemeClr val="bg2">
                    <a:lumMod val="50000"/>
                  </a:schemeClr>
                </a:solidFill>
              </a:rPr>
              <a:t>cf_ca_repair</a:t>
            </a:r>
            <a:endParaRPr lang="en-US" altLang="zh-CN" sz="16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2" name="文本框 101"/>
          <p:cNvSpPr txBox="1"/>
          <p:nvPr>
            <p:custDataLst>
              <p:tags r:id="rId21"/>
            </p:custDataLst>
          </p:nvPr>
        </p:nvSpPr>
        <p:spPr>
          <a:xfrm>
            <a:off x="9546590" y="3924300"/>
            <a:ext cx="245491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黑体" panose="02010609060101010101" pitchFamily="34" charset="-122"/>
                <a:ea typeface="黑体" panose="02010609060101010101" pitchFamily="34" charset="-122"/>
              </a:rPr>
              <a:t>ΔIntensity </a:t>
            </a:r>
            <a:r>
              <a:rPr lang="en-US" altLang="zh-CN" sz="1400"/>
              <a:t>           </a:t>
            </a:r>
            <a:r>
              <a:rPr lang="en-US" altLang="zh-CN" sz="1400">
                <a:latin typeface="黑体" panose="02010609060101010101" pitchFamily="34" charset="-122"/>
                <a:ea typeface="黑体" panose="02010609060101010101" pitchFamily="34" charset="-122"/>
                <a:sym typeface="+mn-ea"/>
              </a:rPr>
              <a:t>ΔDepth</a:t>
            </a:r>
            <a:endParaRPr lang="en-US" altLang="zh-CN" sz="1400"/>
          </a:p>
          <a:p>
            <a:r>
              <a:rPr lang="en-US" altLang="zh-CN" sz="1600"/>
              <a:t>  0                             </a:t>
            </a:r>
            <a:r>
              <a:rPr lang="en-US" altLang="zh-CN" sz="1600">
                <a:solidFill>
                  <a:schemeClr val="accent6"/>
                </a:solidFill>
              </a:rPr>
              <a:t>+0.1375</a:t>
            </a:r>
            <a:endParaRPr lang="en-US" altLang="zh-CN" sz="1600"/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本文方法：</a:t>
            </a:r>
            <a:r>
              <a:rPr lang="zh-CN" altLang="en-US" sz="1400" b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分支独立+路径正向辅助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同时成立，Fusion AUROC取得最优值</a:t>
            </a:r>
            <a:r>
              <a:rPr lang="zh-CN" altLang="en-US" sz="1400" b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0.7750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03" name="直接箭头连接符 102"/>
          <p:cNvCxnSpPr/>
          <p:nvPr>
            <p:custDataLst>
              <p:tags r:id="rId22"/>
            </p:custDataLst>
          </p:nvPr>
        </p:nvCxnSpPr>
        <p:spPr>
          <a:xfrm>
            <a:off x="2624455" y="4559300"/>
            <a:ext cx="6788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>
            <p:custDataLst>
              <p:tags r:id="rId23"/>
            </p:custDataLst>
          </p:nvPr>
        </p:nvCxnSpPr>
        <p:spPr>
          <a:xfrm>
            <a:off x="5746115" y="4559300"/>
            <a:ext cx="6788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>
            <p:custDataLst>
              <p:tags r:id="rId24"/>
            </p:custDataLst>
          </p:nvPr>
        </p:nvCxnSpPr>
        <p:spPr>
          <a:xfrm>
            <a:off x="8867775" y="4559300"/>
            <a:ext cx="6788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1111885" y="5937250"/>
            <a:ext cx="10171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结论</a:t>
            </a:r>
            <a:r>
              <a:rPr lang="zh-CN" altLang="en-US"/>
              <a:t>：只有</a:t>
            </a:r>
            <a:r>
              <a:rPr lang="en-US" altLang="zh-CN" b="1">
                <a:solidFill>
                  <a:schemeClr val="accent6"/>
                </a:solidFill>
              </a:rPr>
              <a:t>cf_ca_repair</a:t>
            </a:r>
            <a:r>
              <a:rPr lang="zh-CN" altLang="en-US"/>
              <a:t>同时满足分支独立 </a:t>
            </a:r>
            <a:r>
              <a:rPr lang="en-US" altLang="zh-CN"/>
              <a:t>ΔIntensity = 0</a:t>
            </a:r>
            <a:r>
              <a:rPr lang="zh-CN" altLang="en-US"/>
              <a:t>与路径正向辅助</a:t>
            </a:r>
            <a:r>
              <a:rPr lang="en-US" altLang="zh-CN"/>
              <a:t>ΔDepth = +0.1375</a:t>
            </a:r>
            <a:r>
              <a:rPr lang="zh-CN" altLang="en-US"/>
              <a:t>，因此 </a:t>
            </a:r>
            <a:r>
              <a:rPr lang="en-US" altLang="zh-CN"/>
              <a:t>Fusion AUROC </a:t>
            </a:r>
            <a:r>
              <a:rPr lang="zh-CN" altLang="en-US"/>
              <a:t>提升至</a:t>
            </a:r>
            <a:r>
              <a:rPr lang="zh-CN" altLang="en-US" b="1">
                <a:solidFill>
                  <a:schemeClr val="accent6"/>
                </a:solidFill>
              </a:rPr>
              <a:t>0.7750</a:t>
            </a:r>
            <a:r>
              <a:rPr lang="zh-CN" altLang="en-US"/>
              <a:t>，相对起点</a:t>
            </a:r>
            <a:r>
              <a:rPr lang="zh-CN" altLang="en-US" b="1">
                <a:solidFill>
                  <a:schemeClr val="accent6"/>
                </a:solidFill>
              </a:rPr>
              <a:t>+8.75 </a:t>
            </a:r>
            <a:r>
              <a:rPr lang="en-US" altLang="zh-CN" b="1">
                <a:solidFill>
                  <a:schemeClr val="accent6"/>
                </a:solidFill>
              </a:rPr>
              <a:t>pts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5、CAD多视角实验+工程开销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(1)Cam4补丁挂载后的多视角影响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02920" y="1783080"/>
          <a:ext cx="5852160" cy="1828800"/>
        </p:xfrm>
        <a:graphic>
          <a:graphicData uri="http://schemas.openxmlformats.org/drawingml/2006/table">
            <a:tbl>
              <a:tblPr/>
              <a:tblGrid>
                <a:gridCol w="868680"/>
                <a:gridCol w="1325880"/>
                <a:gridCol w="1188720"/>
                <a:gridCol w="1371600"/>
                <a:gridCol w="10972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视角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T₀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冻结主干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T₁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+Cam4 补丁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Δ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Cam1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远端旧任务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0.7364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0.7364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+0.0000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Cam4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新任务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0.3500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0.7750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+0.4250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Cam5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邻近旧任务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0.7551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0.8367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+0.0816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069080"/>
            <a:ext cx="5852160" cy="1554480"/>
          </a:xfrm>
          <a:prstGeom prst="rect">
            <a:avLst/>
          </a:prstGeom>
          <a:solidFill>
            <a:srgbClr val="F2F2F7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4069080"/>
            <a:ext cx="109728" cy="1554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160520"/>
            <a:ext cx="553212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482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持续学习指标</a:t>
            </a:r>
            <a:endParaRPr lang="en-US" sz="1400" b="1" dirty="0">
              <a:solidFill>
                <a:srgbClr val="5482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FWT = +0.4250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→ 新任务（Cam4）适配显著</a:t>
            </a:r>
            <a:endParaRPr 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BWT = +0.0408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→ 旧任务（Cam1/Cam5）</a:t>
            </a:r>
            <a:r>
              <a:rPr lang="en-US" sz="1200" b="1" dirty="0">
                <a:solidFill>
                  <a:srgbClr val="5482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未见灾难性遗忘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669280"/>
            <a:ext cx="5852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BWT由Cam1与Cam5两个旧视角Δ取平均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92240" y="1280160"/>
            <a:ext cx="13716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0840" y="123444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(2)与全量重训/Adapter的工程对比</a:t>
            </a:r>
            <a:endParaRPr lang="en-US" sz="16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/>
        </p:nvGraphicFramePr>
        <p:xfrm>
          <a:off x="6492240" y="1783080"/>
          <a:ext cx="5349240" cy="2688336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325880"/>
                <a:gridCol w="141732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全量重训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Adapter/LoRA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本文方法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可训练参数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~10⁸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10⁵~10⁶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 110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占主干比例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100%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0.1%~1%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~10</a:t>
                      </a:r>
                      <a:r>
                        <a:rPr lang="en-US" sz="1200" b="1" baseline="30000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-6</a:t>
                      </a:r>
                      <a:endParaRPr lang="en-US" sz="1200" b="1" baseline="30000" dirty="0">
                        <a:solidFill>
                          <a:srgbClr val="54823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训练耗时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数小时~天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数十分钟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&lt;5 分钟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推理时延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+5%~15%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&lt;1%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补丁大小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~400 MB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~1~10 MB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&lt;1 KB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回滚方式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重部署旧模型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卸载模块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删除补丁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492240" y="4572000"/>
            <a:ext cx="5349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工程价值：</a:t>
            </a: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训练快、补丁小、推理几乎无开销、删除即回滚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92240" y="4937760"/>
            <a:ext cx="5349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符合产线 "灰度发布、低风险、可持续迭代" 的要求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rot="5400000" flipV="1">
            <a:off x="1203046" y="-590428"/>
            <a:ext cx="1312621" cy="2495067"/>
            <a:chOff x="7618" y="672"/>
            <a:chExt cx="1180" cy="1213"/>
          </a:xfrm>
        </p:grpSpPr>
        <p:sp>
          <p:nvSpPr>
            <p:cNvPr id="16" name="等腰三角形 15"/>
            <p:cNvSpPr/>
            <p:nvPr/>
          </p:nvSpPr>
          <p:spPr>
            <a:xfrm rot="16200000" flipH="1" flipV="1">
              <a:off x="7728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20386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16200000">
            <a:off x="9476740" y="4142740"/>
            <a:ext cx="1515745" cy="3914775"/>
            <a:chOff x="7618" y="672"/>
            <a:chExt cx="1053" cy="1213"/>
          </a:xfrm>
        </p:grpSpPr>
        <p:sp>
          <p:nvSpPr>
            <p:cNvPr id="10" name="等腰三角形 9"/>
            <p:cNvSpPr/>
            <p:nvPr/>
          </p:nvSpPr>
          <p:spPr>
            <a:xfrm rot="16200000" flipH="1" flipV="1">
              <a:off x="7601" y="815"/>
              <a:ext cx="1213" cy="926"/>
            </a:xfrm>
            <a:prstGeom prst="triangle">
              <a:avLst/>
            </a:prstGeom>
            <a:noFill/>
            <a:ln w="50800" cap="flat" cmpd="sng" algn="ctr">
              <a:solidFill>
                <a:srgbClr val="C8C8C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 flipV="1">
              <a:off x="7474" y="815"/>
              <a:ext cx="1213" cy="926"/>
            </a:xfrm>
            <a:prstGeom prst="triangle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1202558" y="1311588"/>
            <a:ext cx="201168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zh-CN" altLang="en-US" sz="9600" b="1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五</a:t>
            </a:r>
            <a:endParaRPr lang="en-US" altLang="zh-CN" sz="9600" b="1" kern="100" dirty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15005" y="2767330"/>
            <a:ext cx="588518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zh-CN" altLang="en-US" sz="8000" b="1" kern="100" spc="3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  <a:sym typeface="Arial" panose="020B0604020202020204" pitchFamily="34" charset="0"/>
              </a:rPr>
              <a:t>总结与展望</a:t>
            </a:r>
            <a:endParaRPr lang="zh-CN" altLang="en-US" sz="8000" b="1" kern="100" spc="300" dirty="0">
              <a:solidFill>
                <a:srgbClr val="000000"/>
              </a:solidFill>
              <a:latin typeface="+mn-ea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1</a:t>
            </a:r>
            <a:r>
              <a:rPr lang="zh-CN" alt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、</a:t>
            </a: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总结与主要创新点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D9D9D9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01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DepthAffinePEFT输入端轻量适配模块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60650"/>
            <a:ext cx="32918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 2 个可学习标量，对Depth 输入做仿射调制，几乎零推理开销恢复全局漂移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3716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D9D9D9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02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526280" y="20574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Isolated AUROC跨模态诊断口径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3420" y="2660650"/>
            <a:ext cx="32918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解耦分支独立能力与跨模态贡献，识别 "路径污染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过度耦合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健康协同" 三种状态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3716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D9D9D9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03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321040" y="20574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面向CAD的补丁式持续适配框架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660650"/>
            <a:ext cx="32918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(视角, 时间, 工况)视为任务流；任务私有补丁，约110个参数，可挂载、可回滚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137160" cy="4114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实验验证小结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4297680"/>
            <a:ext cx="2743200" cy="1188720"/>
          </a:xfrm>
          <a:prstGeom prst="rect">
            <a:avLst/>
          </a:prstGeom>
          <a:solidFill>
            <a:srgbClr val="F2F2F7"/>
          </a:solidFill>
          <a:ln w="19050">
            <a:solidFill>
              <a:srgbClr val="5482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38912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48235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0.3500 → 0.7750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" y="4983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Cam4 Fusion AUROC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4297680"/>
            <a:ext cx="2743200" cy="1188720"/>
          </a:xfrm>
          <a:prstGeom prst="rect">
            <a:avLst/>
          </a:prstGeom>
          <a:solidFill>
            <a:srgbClr val="F2F2F7"/>
          </a:solidFill>
          <a:ln w="19050">
            <a:solidFill>
              <a:srgbClr val="5482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438912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48235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8/8 → 3/8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64992" y="4983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FP@R100 误报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27064" y="4297680"/>
            <a:ext cx="2743200" cy="1188720"/>
          </a:xfrm>
          <a:prstGeom prst="rect">
            <a:avLst/>
          </a:prstGeom>
          <a:solidFill>
            <a:srgbClr val="F2F2F7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438912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~110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27064" y="4983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可训练参数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89136" y="4297680"/>
            <a:ext cx="2743200" cy="1188720"/>
          </a:xfrm>
          <a:prstGeom prst="rect">
            <a:avLst/>
          </a:prstGeom>
          <a:solidFill>
            <a:srgbClr val="F2F2F7"/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89136" y="438912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&lt; 1%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89136" y="4983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推理时延增量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566928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在不修改主干、几乎零推理开销的前提下，同时改善检测性能与产线运维成本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2、不足与展望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640080" cy="640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3716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当前不足</a:t>
            </a:r>
            <a:endParaRPr lang="en-US" sz="20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502920" y="1828800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502920" y="18288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051560" y="17830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数据规模有限</a:t>
            </a: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51560" y="2194560"/>
            <a:ext cx="48463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目前仅覆盖3个视角，缺乏跨季节、跨班次的长周期产线数据</a:t>
            </a:r>
            <a:endParaRPr lang="en-US" sz="12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502920" y="3291840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502920" y="3291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1051560" y="3246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全局调制能力受限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1051560" y="3657600"/>
            <a:ext cx="48463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DepthAffinePEFT仅处理全局低秩漂移；对局部结构化干扰、新纹理处理能力不足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502920" y="4754880"/>
            <a:ext cx="411480" cy="4114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502920" y="4754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1051560" y="47091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任务流构造不充分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1051560" y="5120640"/>
            <a:ext cx="48463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现有CAD实验主要靠多视角代理，尚无真实的多月/多工况任务序列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280160"/>
            <a:ext cx="137160" cy="411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234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未来工作</a:t>
            </a:r>
            <a:endParaRPr lang="en-US" sz="200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446520" y="1828800"/>
            <a:ext cx="411480" cy="41148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446520" y="18288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995160" y="17830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在线漂移检测机制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995160" y="2194560"/>
            <a:ext cx="4754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用Isolated AUROC、Δ、误报率作为信号自动触发PEFT训练</a:t>
            </a:r>
            <a:endParaRPr lang="en-US" sz="1100" dirty="0"/>
          </a:p>
        </p:txBody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6446520" y="2971800"/>
            <a:ext cx="411480" cy="41148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446520" y="29718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6995160" y="29260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更具表达力的轻量适配</a:t>
            </a:r>
            <a:endParaRPr lang="en-US" sz="1400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6995160" y="3337560"/>
            <a:ext cx="4754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在保持参数量的前提下，引入局部区域调制/小型Adapter处理局部漂移</a:t>
            </a:r>
            <a:endParaRPr lang="en-US" sz="1100" dirty="0"/>
          </a:p>
        </p:txBody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6446520" y="4114800"/>
            <a:ext cx="411480" cy="41148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6446520" y="41148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6995160" y="40690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诊断工具通用化</a:t>
            </a:r>
            <a:endParaRPr lang="en-US" sz="14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6995160" y="4480560"/>
            <a:ext cx="4754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</a:t>
            </a:r>
            <a:r>
              <a:rPr 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Isolated AUROC推广到其他多模态异常检测主干，验证其作为通用诊断工具的能力</a:t>
            </a:r>
            <a:endParaRPr lang="en-US" sz="1100" dirty="0"/>
          </a:p>
        </p:txBody>
      </p:sp>
      <p:sp>
        <p:nvSpPr>
          <p:cNvPr id="32" name="Shape 30"/>
          <p:cNvSpPr/>
          <p:nvPr>
            <p:custDataLst>
              <p:tags r:id="rId25"/>
            </p:custDataLst>
          </p:nvPr>
        </p:nvSpPr>
        <p:spPr>
          <a:xfrm>
            <a:off x="6446520" y="5257800"/>
            <a:ext cx="411480" cy="41148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26"/>
            </p:custDataLst>
          </p:nvPr>
        </p:nvSpPr>
        <p:spPr>
          <a:xfrm>
            <a:off x="6446520" y="52578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>
            <p:custDataLst>
              <p:tags r:id="rId27"/>
            </p:custDataLst>
          </p:nvPr>
        </p:nvSpPr>
        <p:spPr>
          <a:xfrm>
            <a:off x="6995160" y="52120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真实长周期任务流</a:t>
            </a:r>
            <a:endParaRPr lang="en-US" sz="1400" dirty="0"/>
          </a:p>
        </p:txBody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6995160" y="5623560"/>
            <a:ext cx="4754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在产线连续运行数据上记录补丁训练、上线、回滚，评估长期FWT/BWT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600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敬 请 各 位 老 师 批 评 指 正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kern="0" spc="400" dirty="0">
                <a:solidFill>
                  <a:srgbClr val="FFD96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 For Your L</a:t>
            </a:r>
            <a:r>
              <a:rPr lang="en-US" sz="2200" i="1" kern="0" spc="400" dirty="0">
                <a:solidFill>
                  <a:srgbClr val="FFD96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istening</a:t>
            </a:r>
            <a:endParaRPr lang="en-US" sz="2200" i="1" kern="0" spc="400" dirty="0">
              <a:solidFill>
                <a:srgbClr val="FFD966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报告人  王壹鸣    指导教师  唐  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60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基于参数高效微调的钢轨表面缺陷检测方法研究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 5 月  ·  软件学院 软件工程 2202 班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c3e4dd09f6d8f883784e5febab2476d7533c9b"/>
  <p:tag name="KSO_WM_NEWLAYOUT_GROUP_ID" val="layout_10009"/>
  <p:tag name="KSO_WM_NEWLAYOUT_ID" val="slide_9d99194b34fe91b2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9d6923432f28b16c9c7b7a5f499813a734245ee"/>
  <p:tag name="KSO_WM_NEWLAYOUT_GROUP_ID" val="layout_34"/>
  <p:tag name="KSO_WM_NEWLAYOUT_ID" val="slide_a31d5fa52b571dd3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22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23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24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25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26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27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28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29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0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1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2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3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4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5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6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7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8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39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40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41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42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43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44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45.xml><?xml version="1.0" encoding="utf-8"?>
<p:tagLst xmlns:p="http://schemas.openxmlformats.org/presentationml/2006/main">
  <p:tag name="KSO_WM_DIAGRAM_VIRTUALLY_FRAME" val="{&quot;height&quot;:378,&quot;left&quot;:259.2,&quot;top&quot;:122.4,&quot;width&quot;:475.2}"/>
</p:tagLst>
</file>

<file path=ppt/tags/tag46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47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48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49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0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1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2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3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4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5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6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7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8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59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60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61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62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63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64.xml><?xml version="1.0" encoding="utf-8"?>
<p:tagLst xmlns:p="http://schemas.openxmlformats.org/presentationml/2006/main">
  <p:tag name="KSO_WM_DIAGRAM_VIRTUALLY_FRAME" val="{&quot;height&quot;:190.95,&quot;left&quot;:8.700000000000012,&quot;top&quot;:140.4,&quot;width&quot;:911.6759842519684}"/>
</p:tagLst>
</file>

<file path=ppt/tags/tag65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66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67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68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69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0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1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2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3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4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5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6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7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8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79.xml><?xml version="1.0" encoding="utf-8"?>
<p:tagLst xmlns:p="http://schemas.openxmlformats.org/presentationml/2006/main">
  <p:tag name="KSO_WM_DIAGRAM_VIRTUALLY_FRAME" val="{&quot;height&quot;:313.2,&quot;left&quot;:604.8,&quot;top&quot;:97.2,&quot;width&quot;:327.6}"/>
</p:tagLst>
</file>

<file path=ppt/tags/tag80.xml><?xml version="1.0" encoding="utf-8"?>
<p:tagLst xmlns:p="http://schemas.openxmlformats.org/presentationml/2006/main">
  <p:tag name="TABLE_ENDDRAG_ORIGIN_RECT" val="415*181"/>
  <p:tag name="TABLE_ENDDRAG_RECT" val="45*132*415*181"/>
</p:tagLst>
</file>

<file path=ppt/tags/tag81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82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83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84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85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86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87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88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89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0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1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2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3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4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5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6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7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8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99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100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101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102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103.xml><?xml version="1.0" encoding="utf-8"?>
<p:tagLst xmlns:p="http://schemas.openxmlformats.org/presentationml/2006/main">
  <p:tag name="KSO_WM_DIAGRAM_VIRTUALLY_FRAME" val="{&quot;height&quot;:261.5,&quot;left&quot;:-26.85,&quot;top&quot;:252.8,&quot;width&quot;:977.9}"/>
</p:tagLst>
</file>

<file path=ppt/tags/tag104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05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06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07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08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09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0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1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2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3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4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5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6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7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8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19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0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1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2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3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4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5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6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7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8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29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30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ags/tag131.xml><?xml version="1.0" encoding="utf-8"?>
<p:tagLst xmlns:p="http://schemas.openxmlformats.org/presentationml/2006/main">
  <p:tag name="KSO_WM_DIAGRAM_VIRTUALLY_FRAME" val="{&quot;height&quot;:363.6,&quot;left&quot;:39.6,&quot;top&quot;:140.4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5530</Words>
  <Application>WPS 演示</Application>
  <PresentationFormat>宽屏</PresentationFormat>
  <Paragraphs>770</Paragraphs>
  <Slides>23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7" baseType="lpstr">
      <vt:lpstr>Arial</vt:lpstr>
      <vt:lpstr>宋体</vt:lpstr>
      <vt:lpstr>Wingdings</vt:lpstr>
      <vt:lpstr>黑体</vt:lpstr>
      <vt:lpstr>黑体</vt:lpstr>
      <vt:lpstr>微软雅黑</vt:lpstr>
      <vt:lpstr>微软雅黑</vt:lpstr>
      <vt:lpstr>Times New Roman</vt:lpstr>
      <vt:lpstr>Cambria Math</vt:lpstr>
      <vt:lpstr>Cambria Math</vt:lpstr>
      <vt:lpstr>Cambria Math</vt:lpstr>
      <vt:lpstr>Calibri</vt:lpstr>
      <vt:lpstr>Arial Unicode MS</vt:lpstr>
      <vt:lpstr>等线</vt:lpstr>
      <vt:lpstr>Consolas</vt:lpstr>
      <vt:lpstr>Consolas</vt:lpstr>
      <vt:lpstr>Consolas</vt:lpstr>
      <vt:lpstr>Georgia</vt:lpstr>
      <vt:lpstr>Georgia</vt:lpstr>
      <vt:lpstr>Georgia</vt:lpstr>
      <vt:lpstr>等线 Light</vt:lpstr>
      <vt:lpstr>Calibri Light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基于参数高效微调的钢轨表面缺陷检测方法研究</dc:title>
  <dc:creator>王壹鸣</dc:creator>
  <dc:subject>PptxGenJS Presentation</dc:subject>
  <cp:lastModifiedBy>WPS_1663841273</cp:lastModifiedBy>
  <cp:revision>16</cp:revision>
  <dcterms:created xsi:type="dcterms:W3CDTF">2026-05-12T02:19:00Z</dcterms:created>
  <dcterms:modified xsi:type="dcterms:W3CDTF">2026-05-19T01:36:46Z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F6431ABAC557421FAE2C694EB7A4C8F6_13</vt:lpwstr>
  </property>
</Properties>
</file>